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ba01bebcca41a8" /><Relationship Type="http://schemas.openxmlformats.org/officeDocument/2006/relationships/extended-properties" Target="/docProps/app.xml" Id="R5a1930409da64d56" /><Relationship Type="http://schemas.openxmlformats.org/officeDocument/2006/relationships/officeDocument" Target="/ppt/presentation.xml" Id="Rdc49da4f68634bd9" /></Relationships>
</file>

<file path=ppt/presentation.xml><?xml version="1.0" encoding="utf-8"?>
<p:presentation xmlns:p="http://schemas.openxmlformats.org/presentationml/2006/main">
  <p:sldMasterIdLst>
    <p:sldMasterId xmlns:r="http://schemas.openxmlformats.org/officeDocument/2006/relationships" id="2147483648" r:id="Ra6a1932ca0c34dbc"/>
  </p:sldMasterIdLst>
  <p:notesMasterIdLst>
    <p:notesMasterId xmlns:r="http://schemas.openxmlformats.org/officeDocument/2006/relationships" r:id="Rfeefd2e926444b5d"/>
  </p:notesMasterIdLst>
  <p:sldIdLst>
    <p:sldId xmlns:r="http://schemas.openxmlformats.org/officeDocument/2006/relationships" id="256" r:id="R91a160ad2e384f7e"/>
    <p:sldId xmlns:r="http://schemas.openxmlformats.org/officeDocument/2006/relationships" id="257" r:id="R69904f53066246af"/>
    <p:sldId xmlns:r="http://schemas.openxmlformats.org/officeDocument/2006/relationships" id="258" r:id="R19b1fb0818e448b1"/>
    <p:sldId xmlns:r="http://schemas.openxmlformats.org/officeDocument/2006/relationships" id="259" r:id="R913302f6d8974d25"/>
    <p:sldId xmlns:r="http://schemas.openxmlformats.org/officeDocument/2006/relationships" id="260" r:id="R2ea35d7a9422442e"/>
    <p:sldId xmlns:r="http://schemas.openxmlformats.org/officeDocument/2006/relationships" id="261" r:id="R28e2778a63fe49be"/>
    <p:sldId xmlns:r="http://schemas.openxmlformats.org/officeDocument/2006/relationships" id="262" r:id="R30c2b9de7e374ef1"/>
    <p:sldId xmlns:r="http://schemas.openxmlformats.org/officeDocument/2006/relationships" id="263" r:id="R672dc686a5044319"/>
    <p:sldId xmlns:r="http://schemas.openxmlformats.org/officeDocument/2006/relationships" id="264" r:id="Rea872e300acd4764"/>
    <p:sldId xmlns:r="http://schemas.openxmlformats.org/officeDocument/2006/relationships" id="265" r:id="Rf00e0894e82a4d2c"/>
    <p:sldId xmlns:r="http://schemas.openxmlformats.org/officeDocument/2006/relationships" id="266" r:id="R2cd56d0c7d6d4d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8016f97d1443e1" /><Relationship Type="http://schemas.openxmlformats.org/officeDocument/2006/relationships/slideMaster" Target="/ppt/slideMasters/slideMaster1.xml" Id="Ra6a1932ca0c34dbc" /><Relationship Type="http://schemas.openxmlformats.org/officeDocument/2006/relationships/notesMaster" Target="/ppt/notesMasters/notesMaster1.xml" Id="Rfeefd2e926444b5d" /><Relationship Type="http://schemas.openxmlformats.org/officeDocument/2006/relationships/presProps" Target="/ppt/presProps.xml" Id="Rf4d3a5637c6b4c29" /><Relationship Type="http://schemas.openxmlformats.org/officeDocument/2006/relationships/tableStyles" Target="/ppt/tableStyles.xml" Id="R87c6942a1b65447f" /><Relationship Type="http://schemas.openxmlformats.org/officeDocument/2006/relationships/slide" Target="/ppt/slides/slide1.xml" Id="R91a160ad2e384f7e" /><Relationship Type="http://schemas.openxmlformats.org/officeDocument/2006/relationships/slide" Target="/ppt/slides/slide2.xml" Id="R69904f53066246af" /><Relationship Type="http://schemas.openxmlformats.org/officeDocument/2006/relationships/slide" Target="/ppt/slides/slide3.xml" Id="R19b1fb0818e448b1" /><Relationship Type="http://schemas.openxmlformats.org/officeDocument/2006/relationships/slide" Target="/ppt/slides/slide4.xml" Id="R913302f6d8974d25" /><Relationship Type="http://schemas.openxmlformats.org/officeDocument/2006/relationships/slide" Target="/ppt/slides/slide5.xml" Id="R2ea35d7a9422442e" /><Relationship Type="http://schemas.openxmlformats.org/officeDocument/2006/relationships/slide" Target="/ppt/slides/slide6.xml" Id="R28e2778a63fe49be" /><Relationship Type="http://schemas.openxmlformats.org/officeDocument/2006/relationships/slide" Target="/ppt/slides/slide7.xml" Id="R30c2b9de7e374ef1" /><Relationship Type="http://schemas.openxmlformats.org/officeDocument/2006/relationships/slide" Target="/ppt/slides/slide8.xml" Id="R672dc686a5044319" /><Relationship Type="http://schemas.openxmlformats.org/officeDocument/2006/relationships/slide" Target="/ppt/slides/slide9.xml" Id="Rea872e300acd4764" /><Relationship Type="http://schemas.openxmlformats.org/officeDocument/2006/relationships/slide" Target="/ppt/slides/slide10.xml" Id="Rf00e0894e82a4d2c" /><Relationship Type="http://schemas.openxmlformats.org/officeDocument/2006/relationships/slide" Target="/ppt/slides/slide11.xml" Id="R2cd56d0c7d6d4d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98bf0e93284e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feac0584bf4bed" /><Relationship Type="http://schemas.openxmlformats.org/officeDocument/2006/relationships/notesMaster" Target="/ppt/notesMasters/notesMaster1.xml" Id="Rba48d63bbe3c49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d8c111652d4b80" /><Relationship Type="http://schemas.openxmlformats.org/officeDocument/2006/relationships/notesMaster" Target="/ppt/notesMasters/notesMaster1.xml" Id="R4455776f358847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25d80393e64368" /><Relationship Type="http://schemas.openxmlformats.org/officeDocument/2006/relationships/notesMaster" Target="/ppt/notesMasters/notesMaster1.xml" Id="R245f700d7f0d49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597e9fdd894018" /><Relationship Type="http://schemas.openxmlformats.org/officeDocument/2006/relationships/notesMaster" Target="/ppt/notesMasters/notesMaster1.xml" Id="R4c669cb087bb45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e777f95e5b43ca" /><Relationship Type="http://schemas.openxmlformats.org/officeDocument/2006/relationships/notesMaster" Target="/ppt/notesMasters/notesMaster1.xml" Id="R4233167b01c44d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06f1c8b24043c2" /><Relationship Type="http://schemas.openxmlformats.org/officeDocument/2006/relationships/notesMaster" Target="/ppt/notesMasters/notesMaster1.xml" Id="Rdc50c08c0d4d48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b6058f4fee4e3b" /><Relationship Type="http://schemas.openxmlformats.org/officeDocument/2006/relationships/notesMaster" Target="/ppt/notesMasters/notesMaster1.xml" Id="Rc30ea16e399048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d535b52b594079" /><Relationship Type="http://schemas.openxmlformats.org/officeDocument/2006/relationships/notesMaster" Target="/ppt/notesMasters/notesMaster1.xml" Id="R8f535bcd2a7443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522500b622414b" /><Relationship Type="http://schemas.openxmlformats.org/officeDocument/2006/relationships/notesMaster" Target="/ppt/notesMasters/notesMaster1.xml" Id="R9600fa2a86d441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e61fcc4cad47ae" /><Relationship Type="http://schemas.openxmlformats.org/officeDocument/2006/relationships/notesMaster" Target="/ppt/notesMasters/notesMaster1.xml" Id="R32e2aaa92aeb4a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8eb92de5524484" /><Relationship Type="http://schemas.openxmlformats.org/officeDocument/2006/relationships/notesMaster" Target="/ppt/notesMasters/notesMaster1.xml" Id="R7129ba963f1649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project classifies a cropped traffic-sign image into one of 43 known GTSRB classes. The presentation follows the complete path from verified data to model prediction. Emphasize that this is image classification, not object detection or a safety-certified driving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classification as choosing one label. The input is already cropped, so the system does not answer where a sign is in a road scene. The model predicts one of 43 labels and a probability-like confidence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archive comes from Zenodo. Explain why checksums matter: a download can be incomplete or corrupted while still looking like a file. The MD5 fingerprint provides a reproducible integrity check. The test set stays separate until final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left graph as examples per class. Some classes have a few hundred images and others have more than two thousand, which is class imbalance. The sample grid shows the visual variation. This is why we report macro F1 as well as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pixels have different original sizes, so the model needs a fixed tensor shape. Normalization makes optimization numerically stable. Augmentation creates realistic variations while keeping the same label. Grouping related frames reduces near-duplicate leakage between training and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convolutional neural network applies small filters over an image. The custom CNN is the baseline because it is transparent. MobileNetV2 is efficient and can start with ImageNet features. A fair comparison needs matched training budgets.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epoch means one pass through the training data. Loss is the error signal used for weight updates. Early stopping and checkpoints prevent keeping a worse later model. Accuracy is useful but can hide poor rare-class performance, so macro F1 and confusion matrices are 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full-dataset matched five-epoch runs on the Apple M1 Metal GPU. MobileNetV2 leads on overall accuracy, while the custom CNN is slightly ahead on macro F1. This is a reproducible baseline, not a maximum-performance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single MobileNetV2 epoch is now visible because the plot uses explicit epoch markers. If training accuracy rises while validation falls, that suggests overfitting. For deeper error analysis, the project now saves top confusion pairs and a top-confusions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Grad-CAM is an explanation aid, not proof that the model reasons like a person. The heatmap is useful for debugging shortcuts. The demo server keeps model files local and intentionally does not place them in Git or the static hosted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stating the boundary clearly. The current environment loads TensorFlow Metal but reports no supported GPU, so the full-data results were CPU runs. The code is GPU-ready: --require-gpu prevents an accidental CPU fallback. Mention class imbalance, cropped inputs, and the path toward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60b7996f1b4a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92e337057b4a41" /><Relationship Type="http://schemas.openxmlformats.org/officeDocument/2006/relationships/slideLayout" Target="/ppt/slideLayouts/slideLayout1.xml" Id="R4d28adb90bf34f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28adb90bf34f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e3e4ce15054490" /><Relationship Type="http://schemas.openxmlformats.org/officeDocument/2006/relationships/notesSlide" Target="/ppt/notesSlides/notesSlide1.xml" Id="R3cb3661ef07b42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0c451208ab4b6b" /><Relationship Type="http://schemas.openxmlformats.org/officeDocument/2006/relationships/notesSlide" Target="/ppt/notesSlides/notesSlide2.xml" Id="R75794b7f13e14c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580c9bc3734d8f" /><Relationship Type="http://schemas.openxmlformats.org/officeDocument/2006/relationships/notesSlide" Target="/ppt/notesSlides/notesSlide3.xml" Id="Rdeacb14fefd244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f3c8580be24301" /><Relationship Type="http://schemas.openxmlformats.org/officeDocument/2006/relationships/image" Target="/ppt/media/image.png" Id="Rfa4273373cd146bc" /><Relationship Type="http://schemas.openxmlformats.org/officeDocument/2006/relationships/image" Target="/ppt/media/image2.png" Id="Rd36435beac814f22" /><Relationship Type="http://schemas.openxmlformats.org/officeDocument/2006/relationships/notesSlide" Target="/ppt/notesSlides/notesSlide4.xml" Id="Rd6d27751fbc34c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f9aad172f64204" /><Relationship Type="http://schemas.openxmlformats.org/officeDocument/2006/relationships/notesSlide" Target="/ppt/notesSlides/notesSlide5.xml" Id="R2629a5fca43242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0667d0b08d408a" /><Relationship Type="http://schemas.openxmlformats.org/officeDocument/2006/relationships/notesSlide" Target="/ppt/notesSlides/notesSlide6.xml" Id="R5cb4d5448b8144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4c5f1862be446e" /><Relationship Type="http://schemas.openxmlformats.org/officeDocument/2006/relationships/notesSlide" Target="/ppt/notesSlides/notesSlide7.xml" Id="R599d9e376ab34b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2caf2886e241df" /><Relationship Type="http://schemas.openxmlformats.org/officeDocument/2006/relationships/image" Target="/ppt/media/image3.png" Id="R22b047b5b5e04833" /><Relationship Type="http://schemas.openxmlformats.org/officeDocument/2006/relationships/notesSlide" Target="/ppt/notesSlides/notesSlide8.xml" Id="Read1cd2aa83646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d0ea7e598442dc" /><Relationship Type="http://schemas.openxmlformats.org/officeDocument/2006/relationships/image" Target="/ppt/media/image4.png" Id="R63564c2b015a4ef8" /><Relationship Type="http://schemas.openxmlformats.org/officeDocument/2006/relationships/image" Target="/ppt/media/image5.png" Id="R3d8fe0ed3427419c" /><Relationship Type="http://schemas.openxmlformats.org/officeDocument/2006/relationships/notesSlide" Target="/ppt/notesSlides/notesSlide9.xml" Id="R923dfbf5b8ec4d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0ae3c7db444066" /><Relationship Type="http://schemas.openxmlformats.org/officeDocument/2006/relationships/image" Target="/ppt/media/image6.png" Id="R7c0a7ce113cd4a87" /><Relationship Type="http://schemas.openxmlformats.org/officeDocument/2006/relationships/notesSlide" Target="/ppt/notesSlides/notesSlide10.xml" Id="Rc617dba1bb7940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ffa1d31b964fa1" /><Relationship Type="http://schemas.openxmlformats.org/officeDocument/2006/relationships/notesSlide" Target="/ppt/notesSlides/notesSlide11.xml" Id="R6cea87719a58476b" /></Relationships>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08A2AF-A122-482C-B3CB-D556A14E7A5F}"/>
              </a:ext>
            </a:extLst>
          </p:cNvPr>
          <p:cNvSpPr>
            <a:spLocks xmlns:a="http://schemas.openxmlformats.org/drawingml/2006/main" noGrp="1"/>
          </p:cNvSpPr>
          <p:nvPr/>
        </p:nvSpPr>
        <p:spPr>
          <a:xfrm xmlns:a="http://schemas.openxmlformats.org/drawingml/2006/main">
            <a:off x="742950" y="1238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F7FB"/>
                </a:solidFill>
                <a:latin typeface="Helvetica Neue"/>
                <a:ea typeface="Helvetica Neue"/>
                <a:cs typeface="Helvetica Neue"/>
              </a:defRPr>
            </a:pPr>
            <a:r>
              <a:rPr sz="3600" b="1">
                <a:solidFill>
                  <a:srgbClr val="F4F7FB"/>
                </a:solidFill>
                <a:latin typeface="Helvetica Neue"/>
                <a:ea typeface="Helvetica Neue"/>
                <a:cs typeface="Helvetica Neue"/>
              </a:rPr>
              <a:t>GTSRB Traffic Sign Recognition</a:t>
            </a:r>
          </a:p>
        </p:txBody>
      </p:sp>
      <p:sp>
        <p:nvSpPr>
          <p:cNvPr id="2" name="">
            <a:extLst xmlns:a="http://schemas.openxmlformats.org/drawingml/2006/main">
              <a:ext uri="{FF2B5EF4-FFF2-40B4-BE49-F238E27FC236}">
                <a16:creationId xmlns:a16="http://schemas.microsoft.com/office/drawing/2014/main" id="{A1C46063-2B23-485F-B2E1-1ADAEEE59297}"/>
              </a:ext>
            </a:extLst>
          </p:cNvPr>
          <p:cNvSpPr>
            <a:spLocks xmlns:a="http://schemas.openxmlformats.org/drawingml/2006/main" noGrp="1"/>
          </p:cNvSpPr>
          <p:nvPr/>
        </p:nvSpPr>
        <p:spPr>
          <a:xfrm xmlns:a="http://schemas.openxmlformats.org/drawingml/2006/main">
            <a:off x="781050" y="2286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24D6C8"/>
                </a:solidFill>
                <a:latin typeface="Helvetica Neue"/>
                <a:ea typeface="Helvetica Neue"/>
                <a:cs typeface="Helvetica Neue"/>
              </a:defRPr>
            </a:pPr>
            <a:r>
              <a:rPr sz="1875" b="0">
                <a:solidFill>
                  <a:srgbClr val="24D6C8"/>
                </a:solidFill>
                <a:latin typeface="Helvetica Neue"/>
                <a:ea typeface="Helvetica Neue"/>
                <a:cs typeface="Helvetica Neue"/>
              </a:rPr>
              <a:t>An end to end TensorFlow pipeline</a:t>
            </a:r>
          </a:p>
        </p:txBody>
      </p:sp>
      <p:sp>
        <p:nvSpPr>
          <p:cNvPr id="3" name="">
            <a:extLst xmlns:a="http://schemas.openxmlformats.org/drawingml/2006/main">
              <a:ext uri="{FF2B5EF4-FFF2-40B4-BE49-F238E27FC236}">
                <a16:creationId xmlns:a16="http://schemas.microsoft.com/office/drawing/2014/main" id="{7253D5EC-1745-4EE3-A96D-A1410866AC50}"/>
              </a:ext>
            </a:extLst>
          </p:cNvPr>
          <p:cNvSpPr>
            <a:spLocks xmlns:a="http://schemas.openxmlformats.org/drawingml/2006/main" noGrp="1"/>
          </p:cNvSpPr>
          <p:nvPr/>
        </p:nvSpPr>
        <p:spPr>
          <a:xfrm xmlns:a="http://schemas.openxmlformats.org/drawingml/2006/main">
            <a:off x="800100" y="3000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A8B8CC"/>
                </a:solidFill>
                <a:latin typeface="Helvetica Neue"/>
                <a:ea typeface="Helvetica Neue"/>
                <a:cs typeface="Helvetica Neue"/>
              </a:defRPr>
            </a:pPr>
            <a:r>
              <a:rPr sz="1350" b="0">
                <a:solidFill>
                  <a:srgbClr val="A8B8CC"/>
                </a:solidFill>
                <a:latin typeface="Helvetica Neue"/>
                <a:ea typeface="Helvetica Neue"/>
                <a:cs typeface="Helvetica Neue"/>
              </a:rPr>
              <a:t>IEEE project presentation</a:t>
            </a:r>
          </a:p>
        </p:txBody>
      </p:sp>
      <p:sp>
        <p:nvSpPr>
          <p:cNvPr id="4" name="">
            <a:extLst xmlns:a="http://schemas.openxmlformats.org/drawingml/2006/main">
              <a:ext uri="{FF2B5EF4-FFF2-40B4-BE49-F238E27FC236}">
                <a16:creationId xmlns:a16="http://schemas.microsoft.com/office/drawing/2014/main" id="{3849CB91-2CB3-4152-8422-D631471D9387}"/>
              </a:ext>
            </a:extLst>
          </p:cNvPr>
          <p:cNvSpPr>
            <a:spLocks xmlns:a="http://schemas.openxmlformats.org/drawingml/2006/main" noGrp="1"/>
          </p:cNvSpPr>
          <p:nvPr/>
        </p:nvSpPr>
        <p:spPr>
          <a:xfrm xmlns:a="http://schemas.openxmlformats.org/drawingml/2006/main">
            <a:off x="800100" y="54292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A8B8CC"/>
                </a:solidFill>
                <a:latin typeface="Helvetica Neue"/>
                <a:ea typeface="Helvetica Neue"/>
                <a:cs typeface="Helvetica Neue"/>
              </a:defRPr>
            </a:pPr>
            <a:r>
              <a:rPr sz="1275" b="0">
                <a:solidFill>
                  <a:srgbClr val="A8B8CC"/>
                </a:solidFill>
                <a:latin typeface="Helvetica Neue"/>
                <a:ea typeface="Helvetica Neue"/>
                <a:cs typeface="Helvetica Neue"/>
              </a:rPr>
              <a:t>Akshit Mehta</a:t>
            </a:r>
          </a:p>
        </p:txBody>
      </p:sp>
    </p:spTree>
    <p:extLst>
      <p:ext uri="{BB962C8B-B14F-4D97-AF65-F5344CB8AC3E}">
        <p14:creationId xmlns:p14="http://schemas.microsoft.com/office/powerpoint/2010/main" val="870451069"/>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876A3A-D57B-4F02-8570-0914994D590E}"/>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01 / CONTEXT</a:t>
            </a:r>
          </a:p>
        </p:txBody>
      </p:sp>
      <p:sp>
        <p:nvSpPr>
          <p:cNvPr id="2" name="">
            <a:extLst xmlns:a="http://schemas.openxmlformats.org/drawingml/2006/main">
              <a:ext uri="{FF2B5EF4-FFF2-40B4-BE49-F238E27FC236}">
                <a16:creationId xmlns:a16="http://schemas.microsoft.com/office/drawing/2014/main" id="{ACD53D2E-D238-466B-B1D6-84F6CF5C3608}"/>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Problem and objective</a:t>
            </a:r>
          </a:p>
        </p:txBody>
      </p:sp>
      <p:sp>
        <p:nvSpPr>
          <p:cNvPr id="3" name="">
            <a:extLst xmlns:a="http://schemas.openxmlformats.org/drawingml/2006/main">
              <a:ext uri="{FF2B5EF4-FFF2-40B4-BE49-F238E27FC236}">
                <a16:creationId xmlns:a16="http://schemas.microsoft.com/office/drawing/2014/main" id="{7E9D8017-0E0D-4A89-BFDB-20621E577218}"/>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sp>
        <p:nvSpPr>
          <p:cNvPr id="4" name="">
            <a:extLst xmlns:a="http://schemas.openxmlformats.org/drawingml/2006/main">
              <a:ext uri="{FF2B5EF4-FFF2-40B4-BE49-F238E27FC236}">
                <a16:creationId xmlns:a16="http://schemas.microsoft.com/office/drawing/2014/main" id="{F7C3962D-B551-4B6D-B48A-37BE2C50420A}"/>
              </a:ext>
            </a:extLst>
          </p:cNvPr>
          <p:cNvSpPr>
            <a:spLocks xmlns:a="http://schemas.openxmlformats.org/drawingml/2006/main" noGrp="1"/>
          </p:cNvSpPr>
          <p:nvPr/>
        </p:nvSpPr>
        <p:spPr>
          <a:xfrm xmlns:a="http://schemas.openxmlformats.org/drawingml/2006/main">
            <a:off x="857250" y="209550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B454"/>
                </a:solidFill>
                <a:latin typeface="Helvetica Neue"/>
                <a:ea typeface="Helvetica Neue"/>
                <a:cs typeface="Helvetica Neue"/>
              </a:defRPr>
            </a:pPr>
            <a:r>
              <a:rPr sz="1500" b="1">
                <a:solidFill>
                  <a:srgbClr val="FFB454"/>
                </a:solidFill>
                <a:latin typeface="Helvetica Neue"/>
                <a:ea typeface="Helvetica Neue"/>
                <a:cs typeface="Helvetica Neue"/>
              </a:rPr>
              <a:t>Input</a:t>
            </a:r>
          </a:p>
        </p:txBody>
      </p:sp>
      <p:sp>
        <p:nvSpPr>
          <p:cNvPr id="5" name="">
            <a:extLst xmlns:a="http://schemas.openxmlformats.org/drawingml/2006/main">
              <a:ext uri="{FF2B5EF4-FFF2-40B4-BE49-F238E27FC236}">
                <a16:creationId xmlns:a16="http://schemas.microsoft.com/office/drawing/2014/main" id="{3BA5F64C-5083-4444-B334-EA2F691FF204}"/>
              </a:ext>
            </a:extLst>
          </p:cNvPr>
          <p:cNvSpPr>
            <a:spLocks xmlns:a="http://schemas.openxmlformats.org/drawingml/2006/main" noGrp="1"/>
          </p:cNvSpPr>
          <p:nvPr/>
        </p:nvSpPr>
        <p:spPr>
          <a:xfrm xmlns:a="http://schemas.openxmlformats.org/drawingml/2006/main">
            <a:off x="857250" y="257175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One cropped traffic-sign image</a:t>
            </a:r>
          </a:p>
        </p:txBody>
      </p:sp>
      <p:sp>
        <p:nvSpPr>
          <p:cNvPr id="6" name="">
            <a:extLst xmlns:a="http://schemas.openxmlformats.org/drawingml/2006/main">
              <a:ext uri="{FF2B5EF4-FFF2-40B4-BE49-F238E27FC236}">
                <a16:creationId xmlns:a16="http://schemas.microsoft.com/office/drawing/2014/main" id="{7561083A-EE68-4BF0-B792-D6AAA3FE0257}"/>
              </a:ext>
            </a:extLst>
          </p:cNvPr>
          <p:cNvSpPr>
            <a:spLocks xmlns:a="http://schemas.openxmlformats.org/drawingml/2006/main" noGrp="1"/>
          </p:cNvSpPr>
          <p:nvPr/>
        </p:nvSpPr>
        <p:spPr>
          <a:xfrm xmlns:a="http://schemas.openxmlformats.org/drawingml/2006/main">
            <a:off x="5143500" y="209550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24D6C8"/>
                </a:solidFill>
                <a:latin typeface="Helvetica Neue"/>
                <a:ea typeface="Helvetica Neue"/>
                <a:cs typeface="Helvetica Neue"/>
              </a:defRPr>
            </a:pPr>
            <a:r>
              <a:rPr sz="1500" b="1">
                <a:solidFill>
                  <a:srgbClr val="24D6C8"/>
                </a:solidFill>
                <a:latin typeface="Helvetica Neue"/>
                <a:ea typeface="Helvetica Neue"/>
                <a:cs typeface="Helvetica Neue"/>
              </a:rPr>
              <a:t>Model</a:t>
            </a:r>
          </a:p>
        </p:txBody>
      </p:sp>
      <p:sp>
        <p:nvSpPr>
          <p:cNvPr id="7" name="">
            <a:extLst xmlns:a="http://schemas.openxmlformats.org/drawingml/2006/main">
              <a:ext uri="{FF2B5EF4-FFF2-40B4-BE49-F238E27FC236}">
                <a16:creationId xmlns:a16="http://schemas.microsoft.com/office/drawing/2014/main" id="{6FC94038-B892-4DC1-AF4A-4FDF34583E01}"/>
              </a:ext>
            </a:extLst>
          </p:cNvPr>
          <p:cNvSpPr>
            <a:spLocks xmlns:a="http://schemas.openxmlformats.org/drawingml/2006/main" noGrp="1"/>
          </p:cNvSpPr>
          <p:nvPr/>
        </p:nvSpPr>
        <p:spPr>
          <a:xfrm xmlns:a="http://schemas.openxmlformats.org/drawingml/2006/main">
            <a:off x="5143500" y="257175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Neural network learns visual patterns</a:t>
            </a:r>
          </a:p>
        </p:txBody>
      </p:sp>
      <p:sp>
        <p:nvSpPr>
          <p:cNvPr id="8" name="">
            <a:extLst xmlns:a="http://schemas.openxmlformats.org/drawingml/2006/main">
              <a:ext uri="{FF2B5EF4-FFF2-40B4-BE49-F238E27FC236}">
                <a16:creationId xmlns:a16="http://schemas.microsoft.com/office/drawing/2014/main" id="{70E64146-33F5-406B-B5E3-92A20CBDC711}"/>
              </a:ext>
            </a:extLst>
          </p:cNvPr>
          <p:cNvSpPr>
            <a:spLocks xmlns:a="http://schemas.openxmlformats.org/drawingml/2006/main" noGrp="1"/>
          </p:cNvSpPr>
          <p:nvPr/>
        </p:nvSpPr>
        <p:spPr>
          <a:xfrm xmlns:a="http://schemas.openxmlformats.org/drawingml/2006/main">
            <a:off x="9429750" y="209550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8F7CFF"/>
                </a:solidFill>
                <a:latin typeface="Helvetica Neue"/>
                <a:ea typeface="Helvetica Neue"/>
                <a:cs typeface="Helvetica Neue"/>
              </a:defRPr>
            </a:pPr>
            <a:r>
              <a:rPr sz="1500" b="1">
                <a:solidFill>
                  <a:srgbClr val="8F7CFF"/>
                </a:solidFill>
                <a:latin typeface="Helvetica Neue"/>
                <a:ea typeface="Helvetica Neue"/>
                <a:cs typeface="Helvetica Neue"/>
              </a:rPr>
              <a:t>Output</a:t>
            </a:r>
          </a:p>
        </p:txBody>
      </p:sp>
      <p:sp>
        <p:nvSpPr>
          <p:cNvPr id="9" name="">
            <a:extLst xmlns:a="http://schemas.openxmlformats.org/drawingml/2006/main">
              <a:ext uri="{FF2B5EF4-FFF2-40B4-BE49-F238E27FC236}">
                <a16:creationId xmlns:a16="http://schemas.microsoft.com/office/drawing/2014/main" id="{B4685CC0-BD7E-4908-9EF4-65958CE04A12}"/>
              </a:ext>
            </a:extLst>
          </p:cNvPr>
          <p:cNvSpPr>
            <a:spLocks xmlns:a="http://schemas.openxmlformats.org/drawingml/2006/main" noGrp="1"/>
          </p:cNvSpPr>
          <p:nvPr/>
        </p:nvSpPr>
        <p:spPr>
          <a:xfrm xmlns:a="http://schemas.openxmlformats.org/drawingml/2006/main">
            <a:off x="9429750" y="2571750"/>
            <a:ext cx="219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Class ID and confidence</a:t>
            </a:r>
          </a:p>
        </p:txBody>
      </p:sp>
      <p:sp>
        <p:nvSpPr>
          <p:cNvPr id="10" name="">
            <a:extLst xmlns:a="http://schemas.openxmlformats.org/drawingml/2006/main">
              <a:ext uri="{FF2B5EF4-FFF2-40B4-BE49-F238E27FC236}">
                <a16:creationId xmlns:a16="http://schemas.microsoft.com/office/drawing/2014/main" id="{7CEA61EC-55D5-4886-AAEF-7B2156295032}"/>
              </a:ext>
            </a:extLst>
          </p:cNvPr>
          <p:cNvSpPr>
            <a:spLocks xmlns:a="http://schemas.openxmlformats.org/drawingml/2006/main" noGrp="1"/>
          </p:cNvSpPr>
          <p:nvPr/>
        </p:nvSpPr>
        <p:spPr>
          <a:xfrm xmlns:a="http://schemas.openxmlformats.org/drawingml/2006/main">
            <a:off x="857250" y="4286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A8B8CC"/>
                </a:solidFill>
                <a:latin typeface="Helvetica Neue"/>
                <a:ea typeface="Helvetica Neue"/>
                <a:cs typeface="Helvetica Neue"/>
              </a:defRPr>
            </a:pPr>
            <a:r>
              <a:rPr sz="1875" b="0">
                <a:solidFill>
                  <a:srgbClr val="A8B8CC"/>
                </a:solidFill>
                <a:latin typeface="Helvetica Neue"/>
                <a:ea typeface="Helvetica Neue"/>
                <a:cs typeface="Helvetica Neue"/>
              </a:rPr>
              <a:t>The goal is a reproducible classification pipeline with honest evaluation and interpretable evidence.</a:t>
            </a:r>
          </a:p>
        </p:txBody>
      </p:sp>
    </p:spTree>
    <p:extLst>
      <p:ext uri="{BB962C8B-B14F-4D97-AF65-F5344CB8AC3E}">
        <p14:creationId xmlns:p14="http://schemas.microsoft.com/office/powerpoint/2010/main" val="713892271"/>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C68576-34E8-46B1-B5C6-3F0B1DD589F1}"/>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02 / DATA</a:t>
            </a:r>
          </a:p>
        </p:txBody>
      </p:sp>
      <p:sp>
        <p:nvSpPr>
          <p:cNvPr id="2" name="">
            <a:extLst xmlns:a="http://schemas.openxmlformats.org/drawingml/2006/main">
              <a:ext uri="{FF2B5EF4-FFF2-40B4-BE49-F238E27FC236}">
                <a16:creationId xmlns:a16="http://schemas.microsoft.com/office/drawing/2014/main" id="{89C3F34D-948E-4FB7-95DB-064316EF31FD}"/>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Dataset and integrity</a:t>
            </a:r>
          </a:p>
        </p:txBody>
      </p:sp>
      <p:sp>
        <p:nvSpPr>
          <p:cNvPr id="3" name="">
            <a:extLst xmlns:a="http://schemas.openxmlformats.org/drawingml/2006/main">
              <a:ext uri="{FF2B5EF4-FFF2-40B4-BE49-F238E27FC236}">
                <a16:creationId xmlns:a16="http://schemas.microsoft.com/office/drawing/2014/main" id="{07946FE1-EE8B-45D0-9832-9CA09EF2D4DB}"/>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sp>
        <p:nvSpPr>
          <p:cNvPr id="4" name="">
            <a:extLst xmlns:a="http://schemas.openxmlformats.org/drawingml/2006/main">
              <a:ext uri="{FF2B5EF4-FFF2-40B4-BE49-F238E27FC236}">
                <a16:creationId xmlns:a16="http://schemas.microsoft.com/office/drawing/2014/main" id="{6F112857-368F-4978-8EC6-5C5E7092D64F}"/>
              </a:ext>
            </a:extLst>
          </p:cNvPr>
          <p:cNvSpPr>
            <a:spLocks xmlns:a="http://schemas.openxmlformats.org/drawingml/2006/main" noGrp="1"/>
          </p:cNvSpPr>
          <p:nvPr/>
        </p:nvSpPr>
        <p:spPr>
          <a:xfrm xmlns:a="http://schemas.openxmlformats.org/drawingml/2006/main">
            <a:off x="857250" y="195262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24D6C8"/>
                </a:solidFill>
                <a:latin typeface="Helvetica Neue"/>
                <a:ea typeface="Helvetica Neue"/>
                <a:cs typeface="Helvetica Neue"/>
              </a:defRPr>
            </a:pPr>
            <a:r>
              <a:rPr sz="2850" b="1">
                <a:solidFill>
                  <a:srgbClr val="24D6C8"/>
                </a:solidFill>
                <a:latin typeface="Helvetica Neue"/>
                <a:ea typeface="Helvetica Neue"/>
                <a:cs typeface="Helvetica Neue"/>
              </a:rPr>
              <a:t>39,209</a:t>
            </a:r>
          </a:p>
        </p:txBody>
      </p:sp>
      <p:sp>
        <p:nvSpPr>
          <p:cNvPr id="5" name="">
            <a:extLst xmlns:a="http://schemas.openxmlformats.org/drawingml/2006/main">
              <a:ext uri="{FF2B5EF4-FFF2-40B4-BE49-F238E27FC236}">
                <a16:creationId xmlns:a16="http://schemas.microsoft.com/office/drawing/2014/main" id="{1E913E5D-D6D4-4303-A25B-1CBE38C43A5F}"/>
              </a:ext>
            </a:extLst>
          </p:cNvPr>
          <p:cNvSpPr>
            <a:spLocks xmlns:a="http://schemas.openxmlformats.org/drawingml/2006/main" noGrp="1"/>
          </p:cNvSpPr>
          <p:nvPr/>
        </p:nvSpPr>
        <p:spPr>
          <a:xfrm xmlns:a="http://schemas.openxmlformats.org/drawingml/2006/main">
            <a:off x="876300" y="2571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A8B8CC"/>
                </a:solidFill>
                <a:latin typeface="Helvetica Neue"/>
                <a:ea typeface="Helvetica Neue"/>
                <a:cs typeface="Helvetica Neue"/>
              </a:defRPr>
            </a:pPr>
            <a:r>
              <a:rPr sz="1275" b="0">
                <a:solidFill>
                  <a:srgbClr val="A8B8CC"/>
                </a:solidFill>
                <a:latin typeface="Helvetica Neue"/>
                <a:ea typeface="Helvetica Neue"/>
                <a:cs typeface="Helvetica Neue"/>
              </a:rPr>
              <a:t>training images</a:t>
            </a:r>
          </a:p>
        </p:txBody>
      </p:sp>
      <p:sp>
        <p:nvSpPr>
          <p:cNvPr id="6" name="">
            <a:extLst xmlns:a="http://schemas.openxmlformats.org/drawingml/2006/main">
              <a:ext uri="{FF2B5EF4-FFF2-40B4-BE49-F238E27FC236}">
                <a16:creationId xmlns:a16="http://schemas.microsoft.com/office/drawing/2014/main" id="{E3E07EA1-040D-40B2-AF8B-CF4EE442F729}"/>
              </a:ext>
            </a:extLst>
          </p:cNvPr>
          <p:cNvSpPr>
            <a:spLocks xmlns:a="http://schemas.openxmlformats.org/drawingml/2006/main" noGrp="1"/>
          </p:cNvSpPr>
          <p:nvPr/>
        </p:nvSpPr>
        <p:spPr>
          <a:xfrm xmlns:a="http://schemas.openxmlformats.org/drawingml/2006/main">
            <a:off x="4476750" y="195262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8F7CFF"/>
                </a:solidFill>
                <a:latin typeface="Helvetica Neue"/>
                <a:ea typeface="Helvetica Neue"/>
                <a:cs typeface="Helvetica Neue"/>
              </a:defRPr>
            </a:pPr>
            <a:r>
              <a:rPr sz="2850" b="1">
                <a:solidFill>
                  <a:srgbClr val="8F7CFF"/>
                </a:solidFill>
                <a:latin typeface="Helvetica Neue"/>
                <a:ea typeface="Helvetica Neue"/>
                <a:cs typeface="Helvetica Neue"/>
              </a:rPr>
              <a:t>12,630</a:t>
            </a:r>
          </a:p>
        </p:txBody>
      </p:sp>
      <p:sp>
        <p:nvSpPr>
          <p:cNvPr id="7" name="">
            <a:extLst xmlns:a="http://schemas.openxmlformats.org/drawingml/2006/main">
              <a:ext uri="{FF2B5EF4-FFF2-40B4-BE49-F238E27FC236}">
                <a16:creationId xmlns:a16="http://schemas.microsoft.com/office/drawing/2014/main" id="{4E1D3996-8B4F-4F5F-9D68-816FD77DB8E2}"/>
              </a:ext>
            </a:extLst>
          </p:cNvPr>
          <p:cNvSpPr>
            <a:spLocks xmlns:a="http://schemas.openxmlformats.org/drawingml/2006/main" noGrp="1"/>
          </p:cNvSpPr>
          <p:nvPr/>
        </p:nvSpPr>
        <p:spPr>
          <a:xfrm xmlns:a="http://schemas.openxmlformats.org/drawingml/2006/main">
            <a:off x="4495800" y="2571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A8B8CC"/>
                </a:solidFill>
                <a:latin typeface="Helvetica Neue"/>
                <a:ea typeface="Helvetica Neue"/>
                <a:cs typeface="Helvetica Neue"/>
              </a:defRPr>
            </a:pPr>
            <a:r>
              <a:rPr sz="1275" b="0">
                <a:solidFill>
                  <a:srgbClr val="A8B8CC"/>
                </a:solidFill>
                <a:latin typeface="Helvetica Neue"/>
                <a:ea typeface="Helvetica Neue"/>
                <a:cs typeface="Helvetica Neue"/>
              </a:rPr>
              <a:t>official test images</a:t>
            </a:r>
          </a:p>
        </p:txBody>
      </p:sp>
      <p:sp>
        <p:nvSpPr>
          <p:cNvPr id="8" name="">
            <a:extLst xmlns:a="http://schemas.openxmlformats.org/drawingml/2006/main">
              <a:ext uri="{FF2B5EF4-FFF2-40B4-BE49-F238E27FC236}">
                <a16:creationId xmlns:a16="http://schemas.microsoft.com/office/drawing/2014/main" id="{EC6EFD07-A892-44A2-9447-F08BF3D9C42E}"/>
              </a:ext>
            </a:extLst>
          </p:cNvPr>
          <p:cNvSpPr>
            <a:spLocks xmlns:a="http://schemas.openxmlformats.org/drawingml/2006/main" noGrp="1"/>
          </p:cNvSpPr>
          <p:nvPr/>
        </p:nvSpPr>
        <p:spPr>
          <a:xfrm xmlns:a="http://schemas.openxmlformats.org/drawingml/2006/main">
            <a:off x="8096250" y="1952625"/>
            <a:ext cx="152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FFB454"/>
                </a:solidFill>
                <a:latin typeface="Helvetica Neue"/>
                <a:ea typeface="Helvetica Neue"/>
                <a:cs typeface="Helvetica Neue"/>
              </a:defRPr>
            </a:pPr>
            <a:r>
              <a:rPr sz="2850" b="1">
                <a:solidFill>
                  <a:srgbClr val="FFB454"/>
                </a:solidFill>
                <a:latin typeface="Helvetica Neue"/>
                <a:ea typeface="Helvetica Neue"/>
                <a:cs typeface="Helvetica Neue"/>
              </a:rPr>
              <a:t>43</a:t>
            </a:r>
          </a:p>
        </p:txBody>
      </p:sp>
      <p:sp>
        <p:nvSpPr>
          <p:cNvPr id="9" name="">
            <a:extLst xmlns:a="http://schemas.openxmlformats.org/drawingml/2006/main">
              <a:ext uri="{FF2B5EF4-FFF2-40B4-BE49-F238E27FC236}">
                <a16:creationId xmlns:a16="http://schemas.microsoft.com/office/drawing/2014/main" id="{0299B3D2-FD53-48CF-8264-B6A133D48E48}"/>
              </a:ext>
            </a:extLst>
          </p:cNvPr>
          <p:cNvSpPr>
            <a:spLocks xmlns:a="http://schemas.openxmlformats.org/drawingml/2006/main" noGrp="1"/>
          </p:cNvSpPr>
          <p:nvPr/>
        </p:nvSpPr>
        <p:spPr>
          <a:xfrm xmlns:a="http://schemas.openxmlformats.org/drawingml/2006/main">
            <a:off x="8115300" y="25717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A8B8CC"/>
                </a:solidFill>
                <a:latin typeface="Helvetica Neue"/>
                <a:ea typeface="Helvetica Neue"/>
                <a:cs typeface="Helvetica Neue"/>
              </a:defRPr>
            </a:pPr>
            <a:r>
              <a:rPr sz="1275" b="0">
                <a:solidFill>
                  <a:srgbClr val="A8B8CC"/>
                </a:solidFill>
                <a:latin typeface="Helvetica Neue"/>
                <a:ea typeface="Helvetica Neue"/>
                <a:cs typeface="Helvetica Neue"/>
              </a:rPr>
              <a:t>classes, IDs 0–42</a:t>
            </a:r>
          </a:p>
        </p:txBody>
      </p:sp>
      <p:sp>
        <p:nvSpPr>
          <p:cNvPr id="10" name="">
            <a:extLst xmlns:a="http://schemas.openxmlformats.org/drawingml/2006/main">
              <a:ext uri="{FF2B5EF4-FFF2-40B4-BE49-F238E27FC236}">
                <a16:creationId xmlns:a16="http://schemas.microsoft.com/office/drawing/2014/main" id="{DCB51950-2624-4664-B25A-7724911EC05B}"/>
              </a:ext>
            </a:extLst>
          </p:cNvPr>
          <p:cNvSpPr>
            <a:spLocks xmlns:a="http://schemas.openxmlformats.org/drawingml/2006/main" noGrp="1"/>
          </p:cNvSpPr>
          <p:nvPr/>
        </p:nvSpPr>
        <p:spPr>
          <a:xfrm xmlns:a="http://schemas.openxmlformats.org/drawingml/2006/main">
            <a:off x="857250" y="40005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0">
                <a:solidFill>
                  <a:srgbClr val="F4F7FB"/>
                </a:solidFill>
                <a:latin typeface="Helvetica Neue"/>
                <a:ea typeface="Helvetica Neue"/>
                <a:cs typeface="Helvetica Neue"/>
              </a:defRPr>
            </a:pPr>
            <a:r>
              <a:rPr sz="1875" b="0">
                <a:solidFill>
                  <a:srgbClr val="F4F7FB"/>
                </a:solidFill>
                <a:latin typeface="Helvetica Neue"/>
                <a:ea typeface="Helvetica Neue"/>
                <a:cs typeface="Helvetica Neue"/>
              </a:rPr>
              <a:t>The downloader verifies the published MD5 checksum before extraction and checks that every class is present.</a:t>
            </a:r>
          </a:p>
        </p:txBody>
      </p:sp>
    </p:spTree>
    <p:extLst>
      <p:ext uri="{BB962C8B-B14F-4D97-AF65-F5344CB8AC3E}">
        <p14:creationId xmlns:p14="http://schemas.microsoft.com/office/powerpoint/2010/main" val="2096921802"/>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96E7D1-6BD8-401A-B57C-198D3D9FB816}"/>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03 / UNDERSTANDING THE DATA</a:t>
            </a:r>
          </a:p>
        </p:txBody>
      </p:sp>
      <p:sp>
        <p:nvSpPr>
          <p:cNvPr id="2" name="">
            <a:extLst xmlns:a="http://schemas.openxmlformats.org/drawingml/2006/main">
              <a:ext uri="{FF2B5EF4-FFF2-40B4-BE49-F238E27FC236}">
                <a16:creationId xmlns:a16="http://schemas.microsoft.com/office/drawing/2014/main" id="{BA0D084C-87EE-4637-83A8-6F0D07D34271}"/>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Exploratory data analysis</a:t>
            </a:r>
          </a:p>
        </p:txBody>
      </p:sp>
      <p:sp>
        <p:nvSpPr>
          <p:cNvPr id="3" name="">
            <a:extLst xmlns:a="http://schemas.openxmlformats.org/drawingml/2006/main">
              <a:ext uri="{FF2B5EF4-FFF2-40B4-BE49-F238E27FC236}">
                <a16:creationId xmlns:a16="http://schemas.microsoft.com/office/drawing/2014/main" id="{F208492A-1BFD-42EF-94C1-595F7A50C920}"/>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a4273373cd146bc"/>
          <a:stretch xmlns:a="http://schemas.openxmlformats.org/drawingml/2006/main"/>
        </p:blipFill>
        <p:spPr>
          <a:xfrm xmlns:a="http://schemas.openxmlformats.org/drawingml/2006/main">
            <a:off x="666750" y="2445884"/>
            <a:ext cx="5238750" cy="1870982"/>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36435beac814f22"/>
          <a:stretch xmlns:a="http://schemas.openxmlformats.org/drawingml/2006/main"/>
        </p:blipFill>
        <p:spPr>
          <a:xfrm xmlns:a="http://schemas.openxmlformats.org/drawingml/2006/main">
            <a:off x="7143750" y="1666875"/>
            <a:ext cx="3429000" cy="3429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19692C-F482-408A-B008-66DEB814F70E}"/>
              </a:ext>
            </a:extLst>
          </p:cNvPr>
          <p:cNvSpPr>
            <a:spLocks xmlns:a="http://schemas.openxmlformats.org/drawingml/2006/main" noGrp="1"/>
          </p:cNvSpPr>
          <p:nvPr/>
        </p:nvSpPr>
        <p:spPr>
          <a:xfrm xmlns:a="http://schemas.openxmlformats.org/drawingml/2006/main">
            <a:off x="857250" y="55245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A8B8CC"/>
                </a:solidFill>
                <a:latin typeface="Helvetica Neue"/>
                <a:ea typeface="Helvetica Neue"/>
                <a:cs typeface="Helvetica Neue"/>
              </a:defRPr>
            </a:pPr>
            <a:r>
              <a:rPr sz="1500" b="0">
                <a:solidFill>
                  <a:srgbClr val="A8B8CC"/>
                </a:solidFill>
                <a:latin typeface="Helvetica Neue"/>
                <a:ea typeface="Helvetica Neue"/>
                <a:cs typeface="Helvetica Neue"/>
              </a:rPr>
              <a:t>The class counts are uneven, and the images vary in lighting, size, blur, and viewpoint.</a:t>
            </a:r>
          </a:p>
        </p:txBody>
      </p:sp>
    </p:spTree>
    <p:extLst>
      <p:ext uri="{BB962C8B-B14F-4D97-AF65-F5344CB8AC3E}">
        <p14:creationId xmlns:p14="http://schemas.microsoft.com/office/powerpoint/2010/main" val="1753440381"/>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A17808-BEA2-4918-8238-7F3E51F3CFC7}"/>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04 / DATA PIPELINE</a:t>
            </a:r>
          </a:p>
        </p:txBody>
      </p:sp>
      <p:sp>
        <p:nvSpPr>
          <p:cNvPr id="2" name="">
            <a:extLst xmlns:a="http://schemas.openxmlformats.org/drawingml/2006/main">
              <a:ext uri="{FF2B5EF4-FFF2-40B4-BE49-F238E27FC236}">
                <a16:creationId xmlns:a16="http://schemas.microsoft.com/office/drawing/2014/main" id="{7DFBB919-61B4-44FD-A17A-5774A357887A}"/>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Preparation and leakage control</a:t>
            </a:r>
          </a:p>
        </p:txBody>
      </p:sp>
      <p:sp>
        <p:nvSpPr>
          <p:cNvPr id="3" name="">
            <a:extLst xmlns:a="http://schemas.openxmlformats.org/drawingml/2006/main">
              <a:ext uri="{FF2B5EF4-FFF2-40B4-BE49-F238E27FC236}">
                <a16:creationId xmlns:a16="http://schemas.microsoft.com/office/drawing/2014/main" id="{9717BC0C-7983-46FD-A8AD-6B29A141259D}"/>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sp>
        <p:nvSpPr>
          <p:cNvPr id="4" name="">
            <a:extLst xmlns:a="http://schemas.openxmlformats.org/drawingml/2006/main">
              <a:ext uri="{FF2B5EF4-FFF2-40B4-BE49-F238E27FC236}">
                <a16:creationId xmlns:a16="http://schemas.microsoft.com/office/drawing/2014/main" id="{0D620E89-174E-4362-9E6D-F4569885C39E}"/>
              </a:ext>
            </a:extLst>
          </p:cNvPr>
          <p:cNvSpPr>
            <a:spLocks xmlns:a="http://schemas.openxmlformats.org/drawingml/2006/main" noGrp="1"/>
          </p:cNvSpPr>
          <p:nvPr/>
        </p:nvSpPr>
        <p:spPr>
          <a:xfrm xmlns:a="http://schemas.openxmlformats.org/drawingml/2006/main">
            <a:off x="952500" y="18097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24D6C8"/>
                </a:solidFill>
                <a:latin typeface="Helvetica Neue"/>
                <a:ea typeface="Helvetica Neue"/>
                <a:cs typeface="Helvetica Neue"/>
              </a:defRPr>
            </a:pPr>
            <a:r>
              <a:rPr sz="1800" b="1">
                <a:solidFill>
                  <a:srgbClr val="24D6C8"/>
                </a:solidFill>
                <a:latin typeface="Helvetica Neue"/>
                <a:ea typeface="Helvetica Neue"/>
                <a:cs typeface="Helvetica Neue"/>
              </a:rPr>
              <a:t>Resize</a:t>
            </a:r>
          </a:p>
        </p:txBody>
      </p:sp>
      <p:sp>
        <p:nvSpPr>
          <p:cNvPr id="5" name="">
            <a:extLst xmlns:a="http://schemas.openxmlformats.org/drawingml/2006/main">
              <a:ext uri="{FF2B5EF4-FFF2-40B4-BE49-F238E27FC236}">
                <a16:creationId xmlns:a16="http://schemas.microsoft.com/office/drawing/2014/main" id="{A253B0DD-C5DB-4BC7-ADF9-33FA255A4109}"/>
              </a:ext>
            </a:extLst>
          </p:cNvPr>
          <p:cNvSpPr>
            <a:spLocks xmlns:a="http://schemas.openxmlformats.org/drawingml/2006/main" noGrp="1"/>
          </p:cNvSpPr>
          <p:nvPr/>
        </p:nvSpPr>
        <p:spPr>
          <a:xfrm xmlns:a="http://schemas.openxmlformats.org/drawingml/2006/main">
            <a:off x="3905250" y="18097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F4F7FB"/>
                </a:solidFill>
                <a:latin typeface="Helvetica Neue"/>
                <a:ea typeface="Helvetica Neue"/>
                <a:cs typeface="Helvetica Neue"/>
              </a:defRPr>
            </a:pPr>
            <a:r>
              <a:rPr sz="1800" b="0">
                <a:solidFill>
                  <a:srgbClr val="F4F7FB"/>
                </a:solidFill>
                <a:latin typeface="Helvetica Neue"/>
                <a:ea typeface="Helvetica Neue"/>
                <a:cs typeface="Helvetica Neue"/>
              </a:rPr>
              <a:t>64×64 or 96×96</a:t>
            </a:r>
          </a:p>
        </p:txBody>
      </p:sp>
      <p:sp>
        <p:nvSpPr>
          <p:cNvPr id="6" name="">
            <a:extLst xmlns:a="http://schemas.openxmlformats.org/drawingml/2006/main">
              <a:ext uri="{FF2B5EF4-FFF2-40B4-BE49-F238E27FC236}">
                <a16:creationId xmlns:a16="http://schemas.microsoft.com/office/drawing/2014/main" id="{9B052A41-D338-4199-8C9C-062AF87ECDE8}"/>
              </a:ext>
            </a:extLst>
          </p:cNvPr>
          <p:cNvSpPr>
            <a:spLocks xmlns:a="http://schemas.openxmlformats.org/drawingml/2006/main" noGrp="1"/>
          </p:cNvSpPr>
          <p:nvPr/>
        </p:nvSpPr>
        <p:spPr>
          <a:xfrm xmlns:a="http://schemas.openxmlformats.org/drawingml/2006/main">
            <a:off x="952500" y="266700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24D6C8"/>
                </a:solidFill>
                <a:latin typeface="Helvetica Neue"/>
                <a:ea typeface="Helvetica Neue"/>
                <a:cs typeface="Helvetica Neue"/>
              </a:defRPr>
            </a:pPr>
            <a:r>
              <a:rPr sz="1800" b="1">
                <a:solidFill>
                  <a:srgbClr val="24D6C8"/>
                </a:solidFill>
                <a:latin typeface="Helvetica Neue"/>
                <a:ea typeface="Helvetica Neue"/>
                <a:cs typeface="Helvetica Neue"/>
              </a:rPr>
              <a:t>Normalize</a:t>
            </a:r>
          </a:p>
        </p:txBody>
      </p:sp>
      <p:sp>
        <p:nvSpPr>
          <p:cNvPr id="7" name="">
            <a:extLst xmlns:a="http://schemas.openxmlformats.org/drawingml/2006/main">
              <a:ext uri="{FF2B5EF4-FFF2-40B4-BE49-F238E27FC236}">
                <a16:creationId xmlns:a16="http://schemas.microsoft.com/office/drawing/2014/main" id="{C8FCA256-4975-411A-970A-CEEE46871A26}"/>
              </a:ext>
            </a:extLst>
          </p:cNvPr>
          <p:cNvSpPr>
            <a:spLocks xmlns:a="http://schemas.openxmlformats.org/drawingml/2006/main" noGrp="1"/>
          </p:cNvSpPr>
          <p:nvPr/>
        </p:nvSpPr>
        <p:spPr>
          <a:xfrm xmlns:a="http://schemas.openxmlformats.org/drawingml/2006/main">
            <a:off x="3905250" y="266700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F4F7FB"/>
                </a:solidFill>
                <a:latin typeface="Helvetica Neue"/>
                <a:ea typeface="Helvetica Neue"/>
                <a:cs typeface="Helvetica Neue"/>
              </a:defRPr>
            </a:pPr>
            <a:r>
              <a:rPr sz="1800" b="0">
                <a:solidFill>
                  <a:srgbClr val="F4F7FB"/>
                </a:solidFill>
                <a:latin typeface="Helvetica Neue"/>
                <a:ea typeface="Helvetica Neue"/>
                <a:cs typeface="Helvetica Neue"/>
              </a:rPr>
              <a:t>pixel values to 0–1</a:t>
            </a:r>
          </a:p>
        </p:txBody>
      </p:sp>
      <p:sp>
        <p:nvSpPr>
          <p:cNvPr id="8" name="">
            <a:extLst xmlns:a="http://schemas.openxmlformats.org/drawingml/2006/main">
              <a:ext uri="{FF2B5EF4-FFF2-40B4-BE49-F238E27FC236}">
                <a16:creationId xmlns:a16="http://schemas.microsoft.com/office/drawing/2014/main" id="{39D757B3-3DBA-48B4-9123-CC90DDD416DD}"/>
              </a:ext>
            </a:extLst>
          </p:cNvPr>
          <p:cNvSpPr>
            <a:spLocks xmlns:a="http://schemas.openxmlformats.org/drawingml/2006/main" noGrp="1"/>
          </p:cNvSpPr>
          <p:nvPr/>
        </p:nvSpPr>
        <p:spPr>
          <a:xfrm xmlns:a="http://schemas.openxmlformats.org/drawingml/2006/main">
            <a:off x="952500" y="3524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24D6C8"/>
                </a:solidFill>
                <a:latin typeface="Helvetica Neue"/>
                <a:ea typeface="Helvetica Neue"/>
                <a:cs typeface="Helvetica Neue"/>
              </a:defRPr>
            </a:pPr>
            <a:r>
              <a:rPr sz="1800" b="1">
                <a:solidFill>
                  <a:srgbClr val="24D6C8"/>
                </a:solidFill>
                <a:latin typeface="Helvetica Neue"/>
                <a:ea typeface="Helvetica Neue"/>
                <a:cs typeface="Helvetica Neue"/>
              </a:rPr>
              <a:t>Augment</a:t>
            </a:r>
          </a:p>
        </p:txBody>
      </p:sp>
      <p:sp>
        <p:nvSpPr>
          <p:cNvPr id="9" name="">
            <a:extLst xmlns:a="http://schemas.openxmlformats.org/drawingml/2006/main">
              <a:ext uri="{FF2B5EF4-FFF2-40B4-BE49-F238E27FC236}">
                <a16:creationId xmlns:a16="http://schemas.microsoft.com/office/drawing/2014/main" id="{2D71962D-C14F-4E44-B7C6-54B851B9BD07}"/>
              </a:ext>
            </a:extLst>
          </p:cNvPr>
          <p:cNvSpPr>
            <a:spLocks xmlns:a="http://schemas.openxmlformats.org/drawingml/2006/main" noGrp="1"/>
          </p:cNvSpPr>
          <p:nvPr/>
        </p:nvSpPr>
        <p:spPr>
          <a:xfrm xmlns:a="http://schemas.openxmlformats.org/drawingml/2006/main">
            <a:off x="3905250" y="35242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F4F7FB"/>
                </a:solidFill>
                <a:latin typeface="Helvetica Neue"/>
                <a:ea typeface="Helvetica Neue"/>
                <a:cs typeface="Helvetica Neue"/>
              </a:defRPr>
            </a:pPr>
            <a:r>
              <a:rPr sz="1800" b="0">
                <a:solidFill>
                  <a:srgbClr val="F4F7FB"/>
                </a:solidFill>
                <a:latin typeface="Helvetica Neue"/>
                <a:ea typeface="Helvetica Neue"/>
                <a:cs typeface="Helvetica Neue"/>
              </a:rPr>
              <a:t>rotation, translation, zoom, brightness, contrast</a:t>
            </a:r>
          </a:p>
        </p:txBody>
      </p:sp>
      <p:sp>
        <p:nvSpPr>
          <p:cNvPr id="10" name="">
            <a:extLst xmlns:a="http://schemas.openxmlformats.org/drawingml/2006/main">
              <a:ext uri="{FF2B5EF4-FFF2-40B4-BE49-F238E27FC236}">
                <a16:creationId xmlns:a16="http://schemas.microsoft.com/office/drawing/2014/main" id="{0B83A68B-6A67-4343-A33F-C322F889C4CA}"/>
              </a:ext>
            </a:extLst>
          </p:cNvPr>
          <p:cNvSpPr>
            <a:spLocks xmlns:a="http://schemas.openxmlformats.org/drawingml/2006/main" noGrp="1"/>
          </p:cNvSpPr>
          <p:nvPr/>
        </p:nvSpPr>
        <p:spPr>
          <a:xfrm xmlns:a="http://schemas.openxmlformats.org/drawingml/2006/main">
            <a:off x="952500" y="438150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24D6C8"/>
                </a:solidFill>
                <a:latin typeface="Helvetica Neue"/>
                <a:ea typeface="Helvetica Neue"/>
                <a:cs typeface="Helvetica Neue"/>
              </a:defRPr>
            </a:pPr>
            <a:r>
              <a:rPr sz="1800" b="1">
                <a:solidFill>
                  <a:srgbClr val="24D6C8"/>
                </a:solidFill>
                <a:latin typeface="Helvetica Neue"/>
                <a:ea typeface="Helvetica Neue"/>
                <a:cs typeface="Helvetica Neue"/>
              </a:rPr>
              <a:t>Split</a:t>
            </a:r>
          </a:p>
        </p:txBody>
      </p:sp>
      <p:sp>
        <p:nvSpPr>
          <p:cNvPr id="11" name="">
            <a:extLst xmlns:a="http://schemas.openxmlformats.org/drawingml/2006/main">
              <a:ext uri="{FF2B5EF4-FFF2-40B4-BE49-F238E27FC236}">
                <a16:creationId xmlns:a16="http://schemas.microsoft.com/office/drawing/2014/main" id="{F874B902-AD8C-4287-92A5-AC8843414244}"/>
              </a:ext>
            </a:extLst>
          </p:cNvPr>
          <p:cNvSpPr>
            <a:spLocks xmlns:a="http://schemas.openxmlformats.org/drawingml/2006/main" noGrp="1"/>
          </p:cNvSpPr>
          <p:nvPr/>
        </p:nvSpPr>
        <p:spPr>
          <a:xfrm xmlns:a="http://schemas.openxmlformats.org/drawingml/2006/main">
            <a:off x="3905250" y="438150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F4F7FB"/>
                </a:solidFill>
                <a:latin typeface="Helvetica Neue"/>
                <a:ea typeface="Helvetica Neue"/>
                <a:cs typeface="Helvetica Neue"/>
              </a:defRPr>
            </a:pPr>
            <a:r>
              <a:rPr sz="1800" b="0">
                <a:solidFill>
                  <a:srgbClr val="F4F7FB"/>
                </a:solidFill>
                <a:latin typeface="Helvetica Neue"/>
                <a:ea typeface="Helvetica Neue"/>
                <a:cs typeface="Helvetica Neue"/>
              </a:rPr>
              <a:t>group related sequences before validation</a:t>
            </a:r>
          </a:p>
        </p:txBody>
      </p:sp>
      <p:sp>
        <p:nvSpPr>
          <p:cNvPr id="12" name="">
            <a:extLst xmlns:a="http://schemas.openxmlformats.org/drawingml/2006/main">
              <a:ext uri="{FF2B5EF4-FFF2-40B4-BE49-F238E27FC236}">
                <a16:creationId xmlns:a16="http://schemas.microsoft.com/office/drawing/2014/main" id="{303EDA89-0F4C-4163-BEBF-28DA76D3F21F}"/>
              </a:ext>
            </a:extLst>
          </p:cNvPr>
          <p:cNvSpPr>
            <a:spLocks xmlns:a="http://schemas.openxmlformats.org/drawingml/2006/main" noGrp="1"/>
          </p:cNvSpPr>
          <p:nvPr/>
        </p:nvSpPr>
        <p:spPr>
          <a:xfrm xmlns:a="http://schemas.openxmlformats.org/drawingml/2006/main">
            <a:off x="952500" y="55721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A8B8CC"/>
                </a:solidFill>
                <a:latin typeface="Helvetica Neue"/>
                <a:ea typeface="Helvetica Neue"/>
                <a:cs typeface="Helvetica Neue"/>
              </a:defRPr>
            </a:pPr>
            <a:r>
              <a:rPr sz="1575" b="0">
                <a:solidFill>
                  <a:srgbClr val="A8B8CC"/>
                </a:solidFill>
                <a:latin typeface="Helvetica Neue"/>
                <a:ea typeface="Helvetica Neue"/>
                <a:cs typeface="Helvetica Neue"/>
              </a:rPr>
              <a:t>Validation examples guide training decisions. The official test set remains untouched until the end.</a:t>
            </a:r>
          </a:p>
        </p:txBody>
      </p:sp>
    </p:spTree>
    <p:extLst>
      <p:ext uri="{BB962C8B-B14F-4D97-AF65-F5344CB8AC3E}">
        <p14:creationId xmlns:p14="http://schemas.microsoft.com/office/powerpoint/2010/main" val="2074042078"/>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E22146-D469-41F9-99C6-3A0AB651DFEF}"/>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05 / ARCHITECTURES</a:t>
            </a:r>
          </a:p>
        </p:txBody>
      </p:sp>
      <p:sp>
        <p:nvSpPr>
          <p:cNvPr id="2" name="">
            <a:extLst xmlns:a="http://schemas.openxmlformats.org/drawingml/2006/main">
              <a:ext uri="{FF2B5EF4-FFF2-40B4-BE49-F238E27FC236}">
                <a16:creationId xmlns:a16="http://schemas.microsoft.com/office/drawing/2014/main" id="{5E9C9BBA-168F-495F-A9BD-6552792681B9}"/>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Two model choices</a:t>
            </a:r>
          </a:p>
        </p:txBody>
      </p:sp>
      <p:sp>
        <p:nvSpPr>
          <p:cNvPr id="3" name="">
            <a:extLst xmlns:a="http://schemas.openxmlformats.org/drawingml/2006/main">
              <a:ext uri="{FF2B5EF4-FFF2-40B4-BE49-F238E27FC236}">
                <a16:creationId xmlns:a16="http://schemas.microsoft.com/office/drawing/2014/main" id="{58496D86-1E82-42AB-869C-6F7775E11FB7}"/>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sp>
        <p:nvSpPr>
          <p:cNvPr id="4" name="">
            <a:extLst xmlns:a="http://schemas.openxmlformats.org/drawingml/2006/main">
              <a:ext uri="{FF2B5EF4-FFF2-40B4-BE49-F238E27FC236}">
                <a16:creationId xmlns:a16="http://schemas.microsoft.com/office/drawing/2014/main" id="{94ADF79A-6B61-4DA8-AC9A-5D0315919ED7}"/>
              </a:ext>
            </a:extLst>
          </p:cNvPr>
          <p:cNvSpPr>
            <a:spLocks xmlns:a="http://schemas.openxmlformats.org/drawingml/2006/main" noGrp="1"/>
          </p:cNvSpPr>
          <p:nvPr/>
        </p:nvSpPr>
        <p:spPr>
          <a:xfrm xmlns:a="http://schemas.openxmlformats.org/drawingml/2006/main">
            <a:off x="904875" y="19050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250" b="1">
                <a:solidFill>
                  <a:srgbClr val="24D6C8"/>
                </a:solidFill>
                <a:latin typeface="Helvetica Neue"/>
                <a:ea typeface="Helvetica Neue"/>
                <a:cs typeface="Helvetica Neue"/>
              </a:defRPr>
            </a:pPr>
            <a:r>
              <a:rPr sz="2250" b="1">
                <a:solidFill>
                  <a:srgbClr val="24D6C8"/>
                </a:solidFill>
                <a:latin typeface="Helvetica Neue"/>
                <a:ea typeface="Helvetica Neue"/>
                <a:cs typeface="Helvetica Neue"/>
              </a:rPr>
              <a:t>Custom CNN</a:t>
            </a:r>
          </a:p>
        </p:txBody>
      </p:sp>
      <p:sp>
        <p:nvSpPr>
          <p:cNvPr id="5" name="">
            <a:extLst xmlns:a="http://schemas.openxmlformats.org/drawingml/2006/main">
              <a:ext uri="{FF2B5EF4-FFF2-40B4-BE49-F238E27FC236}">
                <a16:creationId xmlns:a16="http://schemas.microsoft.com/office/drawing/2014/main" id="{F7745BE3-F812-440F-A9E5-C0EE09610C41}"/>
              </a:ext>
            </a:extLst>
          </p:cNvPr>
          <p:cNvSpPr>
            <a:spLocks xmlns:a="http://schemas.openxmlformats.org/drawingml/2006/main" noGrp="1"/>
          </p:cNvSpPr>
          <p:nvPr/>
        </p:nvSpPr>
        <p:spPr>
          <a:xfrm xmlns:a="http://schemas.openxmlformats.org/drawingml/2006/main">
            <a:off x="904875" y="2571750"/>
            <a:ext cx="438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Learns edges, colors, shapes, and symbols from this dataset. Compact and easy to explain.</a:t>
            </a:r>
          </a:p>
        </p:txBody>
      </p:sp>
      <p:sp>
        <p:nvSpPr>
          <p:cNvPr id="6" name="">
            <a:extLst xmlns:a="http://schemas.openxmlformats.org/drawingml/2006/main">
              <a:ext uri="{FF2B5EF4-FFF2-40B4-BE49-F238E27FC236}">
                <a16:creationId xmlns:a16="http://schemas.microsoft.com/office/drawing/2014/main" id="{94FFE971-029D-442A-92B9-717D6FD6DE07}"/>
              </a:ext>
            </a:extLst>
          </p:cNvPr>
          <p:cNvSpPr>
            <a:spLocks xmlns:a="http://schemas.openxmlformats.org/drawingml/2006/main" noGrp="1"/>
          </p:cNvSpPr>
          <p:nvPr/>
        </p:nvSpPr>
        <p:spPr>
          <a:xfrm xmlns:a="http://schemas.openxmlformats.org/drawingml/2006/main">
            <a:off x="6667500" y="19050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250" b="1">
                <a:solidFill>
                  <a:srgbClr val="8F7CFF"/>
                </a:solidFill>
                <a:latin typeface="Helvetica Neue"/>
                <a:ea typeface="Helvetica Neue"/>
                <a:cs typeface="Helvetica Neue"/>
              </a:defRPr>
            </a:pPr>
            <a:r>
              <a:rPr sz="2250" b="1">
                <a:solidFill>
                  <a:srgbClr val="8F7CFF"/>
                </a:solidFill>
                <a:latin typeface="Helvetica Neue"/>
                <a:ea typeface="Helvetica Neue"/>
                <a:cs typeface="Helvetica Neue"/>
              </a:rPr>
              <a:t>MobileNetV2</a:t>
            </a:r>
          </a:p>
        </p:txBody>
      </p:sp>
      <p:sp>
        <p:nvSpPr>
          <p:cNvPr id="7" name="">
            <a:extLst xmlns:a="http://schemas.openxmlformats.org/drawingml/2006/main">
              <a:ext uri="{FF2B5EF4-FFF2-40B4-BE49-F238E27FC236}">
                <a16:creationId xmlns:a16="http://schemas.microsoft.com/office/drawing/2014/main" id="{E1EF1B4D-0917-4E59-A03E-89AF4F576846}"/>
              </a:ext>
            </a:extLst>
          </p:cNvPr>
          <p:cNvSpPr>
            <a:spLocks xmlns:a="http://schemas.openxmlformats.org/drawingml/2006/main" noGrp="1"/>
          </p:cNvSpPr>
          <p:nvPr/>
        </p:nvSpPr>
        <p:spPr>
          <a:xfrm xmlns:a="http://schemas.openxmlformats.org/drawingml/2006/main">
            <a:off x="6667500" y="2571750"/>
            <a:ext cx="438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Lightweight transfer-learning network. Reuses general visual features and adapts the final layer to 43 classes.</a:t>
            </a:r>
          </a:p>
        </p:txBody>
      </p:sp>
      <p:sp>
        <p:nvSpPr>
          <p:cNvPr id="8" name="">
            <a:extLst xmlns:a="http://schemas.openxmlformats.org/drawingml/2006/main">
              <a:ext uri="{FF2B5EF4-FFF2-40B4-BE49-F238E27FC236}">
                <a16:creationId xmlns:a16="http://schemas.microsoft.com/office/drawing/2014/main" id="{22F9F735-061D-4C49-80A8-503AC17B128E}"/>
              </a:ext>
            </a:extLst>
          </p:cNvPr>
          <p:cNvSpPr>
            <a:spLocks xmlns:a="http://schemas.openxmlformats.org/drawingml/2006/main" noGrp="1"/>
          </p:cNvSpPr>
          <p:nvPr/>
        </p:nvSpPr>
        <p:spPr>
          <a:xfrm xmlns:a="http://schemas.openxmlformats.org/drawingml/2006/main">
            <a:off x="904875" y="4953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FFB454"/>
                </a:solidFill>
                <a:latin typeface="Helvetica Neue"/>
                <a:ea typeface="Helvetica Neue"/>
                <a:cs typeface="Helvetica Neue"/>
              </a:defRPr>
            </a:pPr>
            <a:r>
              <a:rPr sz="1800" b="1">
                <a:solidFill>
                  <a:srgbClr val="FFB454"/>
                </a:solidFill>
                <a:latin typeface="Helvetica Neue"/>
                <a:ea typeface="Helvetica Neue"/>
                <a:cs typeface="Helvetica Neue"/>
              </a:rPr>
              <a:t>Baseline versus reusable visual knowledge</a:t>
            </a:r>
          </a:p>
        </p:txBody>
      </p:sp>
    </p:spTree>
    <p:extLst>
      <p:ext uri="{BB962C8B-B14F-4D97-AF65-F5344CB8AC3E}">
        <p14:creationId xmlns:p14="http://schemas.microsoft.com/office/powerpoint/2010/main" val="174829106"/>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33598D-1DEE-4B13-9C2D-1033FCF9090B}"/>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06 / EXPERIMENT DESIGN</a:t>
            </a:r>
          </a:p>
        </p:txBody>
      </p:sp>
      <p:sp>
        <p:nvSpPr>
          <p:cNvPr id="2" name="">
            <a:extLst xmlns:a="http://schemas.openxmlformats.org/drawingml/2006/main">
              <a:ext uri="{FF2B5EF4-FFF2-40B4-BE49-F238E27FC236}">
                <a16:creationId xmlns:a16="http://schemas.microsoft.com/office/drawing/2014/main" id="{700C2046-C854-4B30-955A-6DC7D808D93F}"/>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Training and evaluation</a:t>
            </a:r>
          </a:p>
        </p:txBody>
      </p:sp>
      <p:sp>
        <p:nvSpPr>
          <p:cNvPr id="3" name="">
            <a:extLst xmlns:a="http://schemas.openxmlformats.org/drawingml/2006/main">
              <a:ext uri="{FF2B5EF4-FFF2-40B4-BE49-F238E27FC236}">
                <a16:creationId xmlns:a16="http://schemas.microsoft.com/office/drawing/2014/main" id="{C1DAA7C1-95CC-47D1-8F2F-9A95ED9F7272}"/>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sp>
        <p:nvSpPr>
          <p:cNvPr id="4" name="">
            <a:extLst xmlns:a="http://schemas.openxmlformats.org/drawingml/2006/main">
              <a:ext uri="{FF2B5EF4-FFF2-40B4-BE49-F238E27FC236}">
                <a16:creationId xmlns:a16="http://schemas.microsoft.com/office/drawing/2014/main" id="{FDB5F2AE-A4E3-47D0-BA83-56E49AD9CCDD}"/>
              </a:ext>
            </a:extLst>
          </p:cNvPr>
          <p:cNvSpPr>
            <a:spLocks xmlns:a="http://schemas.openxmlformats.org/drawingml/2006/main" noGrp="1"/>
          </p:cNvSpPr>
          <p:nvPr/>
        </p:nvSpPr>
        <p:spPr>
          <a:xfrm xmlns:a="http://schemas.openxmlformats.org/drawingml/2006/main">
            <a:off x="857250" y="18097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24D6C8"/>
                </a:solidFill>
                <a:latin typeface="Helvetica Neue"/>
                <a:ea typeface="Helvetica Neue"/>
                <a:cs typeface="Helvetica Neue"/>
              </a:defRPr>
            </a:pPr>
            <a:r>
              <a:rPr sz="1950" b="1">
                <a:solidFill>
                  <a:srgbClr val="24D6C8"/>
                </a:solidFill>
                <a:latin typeface="Helvetica Neue"/>
                <a:ea typeface="Helvetica Neue"/>
                <a:cs typeface="Helvetica Neue"/>
              </a:rPr>
              <a:t>Training</a:t>
            </a:r>
          </a:p>
        </p:txBody>
      </p:sp>
      <p:sp>
        <p:nvSpPr>
          <p:cNvPr id="5" name="">
            <a:extLst xmlns:a="http://schemas.openxmlformats.org/drawingml/2006/main">
              <a:ext uri="{FF2B5EF4-FFF2-40B4-BE49-F238E27FC236}">
                <a16:creationId xmlns:a16="http://schemas.microsoft.com/office/drawing/2014/main" id="{B720F82F-253C-4764-8F4D-9A3EB2F1EF0A}"/>
              </a:ext>
            </a:extLst>
          </p:cNvPr>
          <p:cNvSpPr>
            <a:spLocks xmlns:a="http://schemas.openxmlformats.org/drawingml/2006/main" noGrp="1"/>
          </p:cNvSpPr>
          <p:nvPr/>
        </p:nvSpPr>
        <p:spPr>
          <a:xfrm xmlns:a="http://schemas.openxmlformats.org/drawingml/2006/main">
            <a:off x="857250" y="2333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Batches → predictions → loss → weight updates</a:t>
            </a:r>
          </a:p>
        </p:txBody>
      </p:sp>
      <p:sp>
        <p:nvSpPr>
          <p:cNvPr id="6" name="">
            <a:extLst xmlns:a="http://schemas.openxmlformats.org/drawingml/2006/main">
              <a:ext uri="{FF2B5EF4-FFF2-40B4-BE49-F238E27FC236}">
                <a16:creationId xmlns:a16="http://schemas.microsoft.com/office/drawing/2014/main" id="{6266FBEF-903B-4063-AF62-36241E0356DF}"/>
              </a:ext>
            </a:extLst>
          </p:cNvPr>
          <p:cNvSpPr>
            <a:spLocks xmlns:a="http://schemas.openxmlformats.org/drawingml/2006/main" noGrp="1"/>
          </p:cNvSpPr>
          <p:nvPr/>
        </p:nvSpPr>
        <p:spPr>
          <a:xfrm xmlns:a="http://schemas.openxmlformats.org/drawingml/2006/main">
            <a:off x="857250" y="34766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FFB454"/>
                </a:solidFill>
                <a:latin typeface="Helvetica Neue"/>
                <a:ea typeface="Helvetica Neue"/>
                <a:cs typeface="Helvetica Neue"/>
              </a:defRPr>
            </a:pPr>
            <a:r>
              <a:rPr sz="1950" b="1">
                <a:solidFill>
                  <a:srgbClr val="FFB454"/>
                </a:solidFill>
                <a:latin typeface="Helvetica Neue"/>
                <a:ea typeface="Helvetica Neue"/>
                <a:cs typeface="Helvetica Neue"/>
              </a:rPr>
              <a:t>Callbacks</a:t>
            </a:r>
          </a:p>
        </p:txBody>
      </p:sp>
      <p:sp>
        <p:nvSpPr>
          <p:cNvPr id="7" name="">
            <a:extLst xmlns:a="http://schemas.openxmlformats.org/drawingml/2006/main">
              <a:ext uri="{FF2B5EF4-FFF2-40B4-BE49-F238E27FC236}">
                <a16:creationId xmlns:a16="http://schemas.microsoft.com/office/drawing/2014/main" id="{69E1C351-FE34-4B94-8D52-450231D735E4}"/>
              </a:ext>
            </a:extLst>
          </p:cNvPr>
          <p:cNvSpPr>
            <a:spLocks xmlns:a="http://schemas.openxmlformats.org/drawingml/2006/main" noGrp="1"/>
          </p:cNvSpPr>
          <p:nvPr/>
        </p:nvSpPr>
        <p:spPr>
          <a:xfrm xmlns:a="http://schemas.openxmlformats.org/drawingml/2006/main">
            <a:off x="857250" y="40005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Early stopping, learning-rate reduction, best checkpoint</a:t>
            </a:r>
          </a:p>
        </p:txBody>
      </p:sp>
      <p:sp>
        <p:nvSpPr>
          <p:cNvPr id="8" name="">
            <a:extLst xmlns:a="http://schemas.openxmlformats.org/drawingml/2006/main">
              <a:ext uri="{FF2B5EF4-FFF2-40B4-BE49-F238E27FC236}">
                <a16:creationId xmlns:a16="http://schemas.microsoft.com/office/drawing/2014/main" id="{2D43E05F-ACDA-4DBA-91FE-2C1B4BFC84F6}"/>
              </a:ext>
            </a:extLst>
          </p:cNvPr>
          <p:cNvSpPr>
            <a:spLocks xmlns:a="http://schemas.openxmlformats.org/drawingml/2006/main" noGrp="1"/>
          </p:cNvSpPr>
          <p:nvPr/>
        </p:nvSpPr>
        <p:spPr>
          <a:xfrm xmlns:a="http://schemas.openxmlformats.org/drawingml/2006/main">
            <a:off x="6667500" y="18097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8F7CFF"/>
                </a:solidFill>
                <a:latin typeface="Helvetica Neue"/>
                <a:ea typeface="Helvetica Neue"/>
                <a:cs typeface="Helvetica Neue"/>
              </a:defRPr>
            </a:pPr>
            <a:r>
              <a:rPr sz="1950" b="1">
                <a:solidFill>
                  <a:srgbClr val="8F7CFF"/>
                </a:solidFill>
                <a:latin typeface="Helvetica Neue"/>
                <a:ea typeface="Helvetica Neue"/>
                <a:cs typeface="Helvetica Neue"/>
              </a:rPr>
              <a:t>Metrics</a:t>
            </a:r>
          </a:p>
        </p:txBody>
      </p:sp>
      <p:sp>
        <p:nvSpPr>
          <p:cNvPr id="9" name="">
            <a:extLst xmlns:a="http://schemas.openxmlformats.org/drawingml/2006/main">
              <a:ext uri="{FF2B5EF4-FFF2-40B4-BE49-F238E27FC236}">
                <a16:creationId xmlns:a16="http://schemas.microsoft.com/office/drawing/2014/main" id="{0A520D93-A6E8-4A9C-BE85-C3335EBE7FEF}"/>
              </a:ext>
            </a:extLst>
          </p:cNvPr>
          <p:cNvSpPr>
            <a:spLocks xmlns:a="http://schemas.openxmlformats.org/drawingml/2006/main" noGrp="1"/>
          </p:cNvSpPr>
          <p:nvPr/>
        </p:nvSpPr>
        <p:spPr>
          <a:xfrm xmlns:a="http://schemas.openxmlformats.org/drawingml/2006/main">
            <a:off x="6667500" y="2333625"/>
            <a:ext cx="4095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Accuracy: overall correctness</a:t>
            </a:r>
          </a:p>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Macro F1: equal weight per class</a:t>
            </a:r>
          </a:p>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Confusion matrix: which classes are mixed up</a:t>
            </a:r>
          </a:p>
        </p:txBody>
      </p:sp>
    </p:spTree>
    <p:extLst>
      <p:ext uri="{BB962C8B-B14F-4D97-AF65-F5344CB8AC3E}">
        <p14:creationId xmlns:p14="http://schemas.microsoft.com/office/powerpoint/2010/main" val="72731115"/>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00B589-3D95-4B11-917D-28F759B9227A}"/>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07 / OFFICIAL TEST SET</a:t>
            </a:r>
          </a:p>
        </p:txBody>
      </p:sp>
      <p:sp>
        <p:nvSpPr>
          <p:cNvPr id="2" name="">
            <a:extLst xmlns:a="http://schemas.openxmlformats.org/drawingml/2006/main">
              <a:ext uri="{FF2B5EF4-FFF2-40B4-BE49-F238E27FC236}">
                <a16:creationId xmlns:a16="http://schemas.microsoft.com/office/drawing/2014/main" id="{325B8784-D588-438E-B6C8-E72C53E1B883}"/>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Measured results</a:t>
            </a:r>
          </a:p>
        </p:txBody>
      </p:sp>
      <p:sp>
        <p:nvSpPr>
          <p:cNvPr id="3" name="">
            <a:extLst xmlns:a="http://schemas.openxmlformats.org/drawingml/2006/main">
              <a:ext uri="{FF2B5EF4-FFF2-40B4-BE49-F238E27FC236}">
                <a16:creationId xmlns:a16="http://schemas.microsoft.com/office/drawing/2014/main" id="{7A85C7AB-D7ED-4329-84BE-5D9918B056FC}"/>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2b047b5b5e04833"/>
          <a:stretch xmlns:a="http://schemas.openxmlformats.org/drawingml/2006/main"/>
        </p:blipFill>
        <p:spPr>
          <a:xfrm xmlns:a="http://schemas.openxmlformats.org/drawingml/2006/main">
            <a:off x="762000" y="2095500"/>
            <a:ext cx="57150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A99693-956D-42DF-9550-0E83784E5E5C}"/>
              </a:ext>
            </a:extLst>
          </p:cNvPr>
          <p:cNvSpPr>
            <a:spLocks xmlns:a="http://schemas.openxmlformats.org/drawingml/2006/main" noGrp="1"/>
          </p:cNvSpPr>
          <p:nvPr/>
        </p:nvSpPr>
        <p:spPr>
          <a:xfrm xmlns:a="http://schemas.openxmlformats.org/drawingml/2006/main">
            <a:off x="7239000" y="200025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24D6C8"/>
                </a:solidFill>
                <a:latin typeface="Helvetica Neue"/>
                <a:ea typeface="Helvetica Neue"/>
                <a:cs typeface="Helvetica Neue"/>
              </a:defRPr>
            </a:pPr>
            <a:r>
              <a:rPr sz="1725" b="1">
                <a:solidFill>
                  <a:srgbClr val="24D6C8"/>
                </a:solidFill>
                <a:latin typeface="Helvetica Neue"/>
                <a:ea typeface="Helvetica Neue"/>
                <a:cs typeface="Helvetica Neue"/>
              </a:rPr>
              <a:t>Custom CNN</a:t>
            </a:r>
          </a:p>
        </p:txBody>
      </p:sp>
      <p:sp>
        <p:nvSpPr>
          <p:cNvPr id="6" name="">
            <a:extLst xmlns:a="http://schemas.openxmlformats.org/drawingml/2006/main">
              <a:ext uri="{FF2B5EF4-FFF2-40B4-BE49-F238E27FC236}">
                <a16:creationId xmlns:a16="http://schemas.microsoft.com/office/drawing/2014/main" id="{45D52CB0-7888-46DF-AB81-2FAC7A5C71A1}"/>
              </a:ext>
            </a:extLst>
          </p:cNvPr>
          <p:cNvSpPr>
            <a:spLocks xmlns:a="http://schemas.openxmlformats.org/drawingml/2006/main" noGrp="1"/>
          </p:cNvSpPr>
          <p:nvPr/>
        </p:nvSpPr>
        <p:spPr>
          <a:xfrm xmlns:a="http://schemas.openxmlformats.org/drawingml/2006/main">
            <a:off x="7239000" y="2476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0">
                <a:solidFill>
                  <a:srgbClr val="F4F7FB"/>
                </a:solidFill>
                <a:latin typeface="Helvetica Neue"/>
                <a:ea typeface="Helvetica Neue"/>
                <a:cs typeface="Helvetica Neue"/>
              </a:defRPr>
            </a:pPr>
            <a:r>
              <a:rPr sz="2100" b="0">
                <a:solidFill>
                  <a:srgbClr val="F4F7FB"/>
                </a:solidFill>
                <a:latin typeface="Helvetica Neue"/>
                <a:ea typeface="Helvetica Neue"/>
                <a:cs typeface="Helvetica Neue"/>
              </a:rPr>
              <a:t>56.90% accuracy</a:t>
            </a:r>
          </a:p>
          <a:p xmlns:a="http://schemas.openxmlformats.org/drawingml/2006/main">
            <a:pPr>
              <a:defRPr sz="2100" b="0">
                <a:solidFill>
                  <a:srgbClr val="F4F7FB"/>
                </a:solidFill>
                <a:latin typeface="Helvetica Neue"/>
                <a:ea typeface="Helvetica Neue"/>
                <a:cs typeface="Helvetica Neue"/>
              </a:defRPr>
            </a:pPr>
            <a:r>
              <a:rPr sz="2100" b="0">
                <a:solidFill>
                  <a:srgbClr val="F4F7FB"/>
                </a:solidFill>
                <a:latin typeface="Helvetica Neue"/>
                <a:ea typeface="Helvetica Neue"/>
                <a:cs typeface="Helvetica Neue"/>
              </a:rPr>
              <a:t>56.19% macro F1</a:t>
            </a:r>
          </a:p>
        </p:txBody>
      </p:sp>
      <p:sp>
        <p:nvSpPr>
          <p:cNvPr id="7" name="">
            <a:extLst xmlns:a="http://schemas.openxmlformats.org/drawingml/2006/main">
              <a:ext uri="{FF2B5EF4-FFF2-40B4-BE49-F238E27FC236}">
                <a16:creationId xmlns:a16="http://schemas.microsoft.com/office/drawing/2014/main" id="{6208A956-24C3-42FD-B12C-A04C5EF38DEC}"/>
              </a:ext>
            </a:extLst>
          </p:cNvPr>
          <p:cNvSpPr>
            <a:spLocks xmlns:a="http://schemas.openxmlformats.org/drawingml/2006/main" noGrp="1"/>
          </p:cNvSpPr>
          <p:nvPr/>
        </p:nvSpPr>
        <p:spPr>
          <a:xfrm xmlns:a="http://schemas.openxmlformats.org/drawingml/2006/main">
            <a:off x="7239000" y="3810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8F7CFF"/>
                </a:solidFill>
                <a:latin typeface="Helvetica Neue"/>
                <a:ea typeface="Helvetica Neue"/>
                <a:cs typeface="Helvetica Neue"/>
              </a:defRPr>
            </a:pPr>
            <a:r>
              <a:rPr sz="1725" b="1">
                <a:solidFill>
                  <a:srgbClr val="8F7CFF"/>
                </a:solidFill>
                <a:latin typeface="Helvetica Neue"/>
                <a:ea typeface="Helvetica Neue"/>
                <a:cs typeface="Helvetica Neue"/>
              </a:rPr>
              <a:t>MobileNetV2</a:t>
            </a:r>
          </a:p>
        </p:txBody>
      </p:sp>
      <p:sp>
        <p:nvSpPr>
          <p:cNvPr id="8" name="">
            <a:extLst xmlns:a="http://schemas.openxmlformats.org/drawingml/2006/main">
              <a:ext uri="{FF2B5EF4-FFF2-40B4-BE49-F238E27FC236}">
                <a16:creationId xmlns:a16="http://schemas.microsoft.com/office/drawing/2014/main" id="{FA273D61-0D6E-4C75-B53A-87F9EFBFB36E}"/>
              </a:ext>
            </a:extLst>
          </p:cNvPr>
          <p:cNvSpPr>
            <a:spLocks xmlns:a="http://schemas.openxmlformats.org/drawingml/2006/main" noGrp="1"/>
          </p:cNvSpPr>
          <p:nvPr/>
        </p:nvSpPr>
        <p:spPr>
          <a:xfrm xmlns:a="http://schemas.openxmlformats.org/drawingml/2006/main">
            <a:off x="7239000" y="42862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100" b="0">
                <a:solidFill>
                  <a:srgbClr val="F4F7FB"/>
                </a:solidFill>
                <a:latin typeface="Helvetica Neue"/>
                <a:ea typeface="Helvetica Neue"/>
                <a:cs typeface="Helvetica Neue"/>
              </a:defRPr>
            </a:pPr>
            <a:r>
              <a:rPr sz="2100" b="0">
                <a:solidFill>
                  <a:srgbClr val="F4F7FB"/>
                </a:solidFill>
                <a:latin typeface="Helvetica Neue"/>
                <a:ea typeface="Helvetica Neue"/>
                <a:cs typeface="Helvetica Neue"/>
              </a:rPr>
              <a:t>62.86% accuracy</a:t>
            </a:r>
          </a:p>
          <a:p xmlns:a="http://schemas.openxmlformats.org/drawingml/2006/main">
            <a:pPr>
              <a:defRPr sz="2100" b="0">
                <a:solidFill>
                  <a:srgbClr val="F4F7FB"/>
                </a:solidFill>
                <a:latin typeface="Helvetica Neue"/>
                <a:ea typeface="Helvetica Neue"/>
                <a:cs typeface="Helvetica Neue"/>
              </a:defRPr>
            </a:pPr>
            <a:r>
              <a:rPr sz="2100" b="0">
                <a:solidFill>
                  <a:srgbClr val="F4F7FB"/>
                </a:solidFill>
                <a:latin typeface="Helvetica Neue"/>
                <a:ea typeface="Helvetica Neue"/>
                <a:cs typeface="Helvetica Neue"/>
              </a:rPr>
              <a:t>55.74% macro F1</a:t>
            </a:r>
          </a:p>
        </p:txBody>
      </p:sp>
    </p:spTree>
    <p:extLst>
      <p:ext uri="{BB962C8B-B14F-4D97-AF65-F5344CB8AC3E}">
        <p14:creationId xmlns:p14="http://schemas.microsoft.com/office/powerpoint/2010/main" val="2098729189"/>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F3C980-A2EA-4F0D-8032-F593098FA46B}"/>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08 / INTERPRETATION</a:t>
            </a:r>
          </a:p>
        </p:txBody>
      </p:sp>
      <p:sp>
        <p:nvSpPr>
          <p:cNvPr id="2" name="">
            <a:extLst xmlns:a="http://schemas.openxmlformats.org/drawingml/2006/main">
              <a:ext uri="{FF2B5EF4-FFF2-40B4-BE49-F238E27FC236}">
                <a16:creationId xmlns:a16="http://schemas.microsoft.com/office/drawing/2014/main" id="{04F834D8-9F50-4DCB-A028-D9016C03C772}"/>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Learning curves and error analysis</a:t>
            </a:r>
          </a:p>
        </p:txBody>
      </p:sp>
      <p:sp>
        <p:nvSpPr>
          <p:cNvPr id="3" name="">
            <a:extLst xmlns:a="http://schemas.openxmlformats.org/drawingml/2006/main">
              <a:ext uri="{FF2B5EF4-FFF2-40B4-BE49-F238E27FC236}">
                <a16:creationId xmlns:a16="http://schemas.microsoft.com/office/drawing/2014/main" id="{F9A7C52A-496B-44A2-9D25-7D3FDE1B114E}"/>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3564c2b015a4ef8"/>
          <a:stretch xmlns:a="http://schemas.openxmlformats.org/drawingml/2006/main"/>
        </p:blipFill>
        <p:spPr>
          <a:xfrm xmlns:a="http://schemas.openxmlformats.org/drawingml/2006/main">
            <a:off x="714375" y="2054679"/>
            <a:ext cx="4762500" cy="1700893"/>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d8fe0ed3427419c"/>
          <a:stretch xmlns:a="http://schemas.openxmlformats.org/drawingml/2006/main"/>
        </p:blipFill>
        <p:spPr>
          <a:xfrm xmlns:a="http://schemas.openxmlformats.org/drawingml/2006/main">
            <a:off x="6191250" y="2054679"/>
            <a:ext cx="4762500" cy="170089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8D25003-5FBD-43D7-9711-DBEB9A026CA0}"/>
              </a:ext>
            </a:extLst>
          </p:cNvPr>
          <p:cNvSpPr>
            <a:spLocks xmlns:a="http://schemas.openxmlformats.org/drawingml/2006/main" noGrp="1"/>
          </p:cNvSpPr>
          <p:nvPr/>
        </p:nvSpPr>
        <p:spPr>
          <a:xfrm xmlns:a="http://schemas.openxmlformats.org/drawingml/2006/main">
            <a:off x="952500" y="47625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A8B8CC"/>
                </a:solidFill>
                <a:latin typeface="Helvetica Neue"/>
                <a:ea typeface="Helvetica Neue"/>
                <a:cs typeface="Helvetica Neue"/>
              </a:defRPr>
            </a:pPr>
            <a:r>
              <a:rPr sz="1800" b="0">
                <a:solidFill>
                  <a:srgbClr val="A8B8CC"/>
                </a:solidFill>
                <a:latin typeface="Helvetica Neue"/>
                <a:ea typeface="Helvetica Neue"/>
                <a:cs typeface="Helvetica Neue"/>
              </a:rPr>
              <a:t>Learning curves show progress over epochs. Confusion matrices reveal specific class pairs that need improvement.</a:t>
            </a:r>
          </a:p>
        </p:txBody>
      </p:sp>
    </p:spTree>
    <p:extLst>
      <p:ext uri="{BB962C8B-B14F-4D97-AF65-F5344CB8AC3E}">
        <p14:creationId xmlns:p14="http://schemas.microsoft.com/office/powerpoint/2010/main" val="1436048217"/>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F231F7-C011-4114-9BAD-FAC5EEF0680C}"/>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09 / USABILITY</a:t>
            </a:r>
          </a:p>
        </p:txBody>
      </p:sp>
      <p:sp>
        <p:nvSpPr>
          <p:cNvPr id="2" name="">
            <a:extLst xmlns:a="http://schemas.openxmlformats.org/drawingml/2006/main">
              <a:ext uri="{FF2B5EF4-FFF2-40B4-BE49-F238E27FC236}">
                <a16:creationId xmlns:a16="http://schemas.microsoft.com/office/drawing/2014/main" id="{F53299D4-CE8C-4DFD-B2F7-4CC1EA94528C}"/>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Explainable prediction and live demo</a:t>
            </a:r>
          </a:p>
        </p:txBody>
      </p:sp>
      <p:sp>
        <p:nvSpPr>
          <p:cNvPr id="3" name="">
            <a:extLst xmlns:a="http://schemas.openxmlformats.org/drawingml/2006/main">
              <a:ext uri="{FF2B5EF4-FFF2-40B4-BE49-F238E27FC236}">
                <a16:creationId xmlns:a16="http://schemas.microsoft.com/office/drawing/2014/main" id="{E3BDEE9F-B9C7-4253-9011-9ECB9BAB4C91}"/>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c0a7ce113cd4a87"/>
          <a:stretch xmlns:a="http://schemas.openxmlformats.org/drawingml/2006/main"/>
        </p:blipFill>
        <p:spPr>
          <a:xfrm xmlns:a="http://schemas.openxmlformats.org/drawingml/2006/main">
            <a:off x="857250" y="1941260"/>
            <a:ext cx="3429000" cy="25944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A8CA78B-D6EC-4F81-AC5C-C6C122CAF7F7}"/>
              </a:ext>
            </a:extLst>
          </p:cNvPr>
          <p:cNvSpPr>
            <a:spLocks xmlns:a="http://schemas.openxmlformats.org/drawingml/2006/main" noGrp="1"/>
          </p:cNvSpPr>
          <p:nvPr/>
        </p:nvSpPr>
        <p:spPr>
          <a:xfrm xmlns:a="http://schemas.openxmlformats.org/drawingml/2006/main">
            <a:off x="5334000" y="19050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250" b="1">
                <a:solidFill>
                  <a:srgbClr val="FFB454"/>
                </a:solidFill>
                <a:latin typeface="Helvetica Neue"/>
                <a:ea typeface="Helvetica Neue"/>
                <a:cs typeface="Helvetica Neue"/>
              </a:defRPr>
            </a:pPr>
            <a:r>
              <a:rPr sz="2250" b="1">
                <a:solidFill>
                  <a:srgbClr val="FFB454"/>
                </a:solidFill>
                <a:latin typeface="Helvetica Neue"/>
                <a:ea typeface="Helvetica Neue"/>
                <a:cs typeface="Helvetica Neue"/>
              </a:rPr>
              <a:t>Grad-CAM</a:t>
            </a:r>
          </a:p>
        </p:txBody>
      </p:sp>
      <p:sp>
        <p:nvSpPr>
          <p:cNvPr id="6" name="">
            <a:extLst xmlns:a="http://schemas.openxmlformats.org/drawingml/2006/main">
              <a:ext uri="{FF2B5EF4-FFF2-40B4-BE49-F238E27FC236}">
                <a16:creationId xmlns:a16="http://schemas.microsoft.com/office/drawing/2014/main" id="{7F163285-C24C-4760-8D4A-6EE104F82E49}"/>
              </a:ext>
            </a:extLst>
          </p:cNvPr>
          <p:cNvSpPr>
            <a:spLocks xmlns:a="http://schemas.openxmlformats.org/drawingml/2006/main" noGrp="1"/>
          </p:cNvSpPr>
          <p:nvPr/>
        </p:nvSpPr>
        <p:spPr>
          <a:xfrm xmlns:a="http://schemas.openxmlformats.org/drawingml/2006/main">
            <a:off x="5334000" y="252412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F4F7FB"/>
                </a:solidFill>
                <a:latin typeface="Helvetica Neue"/>
                <a:ea typeface="Helvetica Neue"/>
                <a:cs typeface="Helvetica Neue"/>
              </a:defRPr>
            </a:pPr>
            <a:r>
              <a:rPr sz="1800" b="0">
                <a:solidFill>
                  <a:srgbClr val="F4F7FB"/>
                </a:solidFill>
                <a:latin typeface="Helvetica Neue"/>
                <a:ea typeface="Helvetica Neue"/>
                <a:cs typeface="Helvetica Neue"/>
              </a:rPr>
              <a:t>Highlights image regions that contributed to the predicted class. It helps us ask whether the model is looking at the sign instead of background noise.</a:t>
            </a:r>
          </a:p>
        </p:txBody>
      </p:sp>
      <p:sp>
        <p:nvSpPr>
          <p:cNvPr id="7" name="">
            <a:extLst xmlns:a="http://schemas.openxmlformats.org/drawingml/2006/main">
              <a:ext uri="{FF2B5EF4-FFF2-40B4-BE49-F238E27FC236}">
                <a16:creationId xmlns:a16="http://schemas.microsoft.com/office/drawing/2014/main" id="{BD2581A5-5A27-4CEA-A5FE-E58ED964841F}"/>
              </a:ext>
            </a:extLst>
          </p:cNvPr>
          <p:cNvSpPr>
            <a:spLocks xmlns:a="http://schemas.openxmlformats.org/drawingml/2006/main" noGrp="1"/>
          </p:cNvSpPr>
          <p:nvPr/>
        </p:nvSpPr>
        <p:spPr>
          <a:xfrm xmlns:a="http://schemas.openxmlformats.org/drawingml/2006/main">
            <a:off x="857250" y="53340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A8B8CC"/>
                </a:solidFill>
                <a:latin typeface="Helvetica Neue"/>
                <a:ea typeface="Helvetica Neue"/>
                <a:cs typeface="Helvetica Neue"/>
              </a:defRPr>
            </a:pPr>
            <a:r>
              <a:rPr sz="1575" b="0">
                <a:solidFill>
                  <a:srgbClr val="A8B8CC"/>
                </a:solidFill>
                <a:latin typeface="Helvetica Neue"/>
                <a:ea typeface="Helvetica Neue"/>
                <a:cs typeface="Helvetica Neue"/>
              </a:rPr>
              <a:t>Local demo: upload an image or use the webcam. The browser sends the frame to a local Keras server and receives class, top-k scores, and the heatmap.</a:t>
            </a:r>
          </a:p>
        </p:txBody>
      </p:sp>
    </p:spTree>
    <p:extLst>
      <p:ext uri="{BB962C8B-B14F-4D97-AF65-F5344CB8AC3E}">
        <p14:creationId xmlns:p14="http://schemas.microsoft.com/office/powerpoint/2010/main" val="1541980390"/>
      </p:ext>
    </p:extLst>
  </p:cSld>
</p:sld>
</file>

<file path=ppt/slides/slide1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E5B574-5B2A-4FD8-8378-FFE56D692130}"/>
              </a:ext>
            </a:extLst>
          </p:cNvPr>
          <p:cNvSpPr>
            <a:spLocks xmlns:a="http://schemas.openxmlformats.org/drawingml/2006/main" noGrp="1"/>
          </p:cNvSpPr>
          <p:nvPr/>
        </p:nvSpPr>
        <p:spPr>
          <a:xfrm xmlns:a="http://schemas.openxmlformats.org/drawingml/2006/main">
            <a:off x="609600" y="333375"/>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24D6C8"/>
                </a:solidFill>
                <a:latin typeface="Helvetica Neue"/>
                <a:ea typeface="Helvetica Neue"/>
                <a:cs typeface="Helvetica Neue"/>
              </a:defRPr>
            </a:pPr>
            <a:r>
              <a:rPr sz="975" b="1">
                <a:solidFill>
                  <a:srgbClr val="24D6C8"/>
                </a:solidFill>
                <a:latin typeface="Helvetica Neue"/>
                <a:ea typeface="Helvetica Neue"/>
                <a:cs typeface="Helvetica Neue"/>
              </a:rPr>
              <a:t>10 / CONCLUSION</a:t>
            </a:r>
          </a:p>
        </p:txBody>
      </p:sp>
      <p:sp>
        <p:nvSpPr>
          <p:cNvPr id="2" name="">
            <a:extLst xmlns:a="http://schemas.openxmlformats.org/drawingml/2006/main">
              <a:ext uri="{FF2B5EF4-FFF2-40B4-BE49-F238E27FC236}">
                <a16:creationId xmlns:a16="http://schemas.microsoft.com/office/drawing/2014/main" id="{C1F35B52-5CFB-4958-BAC7-01FF0C5CA8D2}"/>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F4F7FB"/>
                </a:solidFill>
                <a:latin typeface="Helvetica Neue"/>
                <a:ea typeface="Helvetica Neue"/>
                <a:cs typeface="Helvetica Neue"/>
              </a:defRPr>
            </a:pPr>
            <a:r>
              <a:rPr sz="2550" b="1">
                <a:solidFill>
                  <a:srgbClr val="F4F7FB"/>
                </a:solidFill>
                <a:latin typeface="Helvetica Neue"/>
                <a:ea typeface="Helvetica Neue"/>
                <a:cs typeface="Helvetica Neue"/>
              </a:rPr>
              <a:t>Limitations and next steps</a:t>
            </a:r>
          </a:p>
        </p:txBody>
      </p:sp>
      <p:sp>
        <p:nvSpPr>
          <p:cNvPr id="3" name="">
            <a:extLst xmlns:a="http://schemas.openxmlformats.org/drawingml/2006/main">
              <a:ext uri="{FF2B5EF4-FFF2-40B4-BE49-F238E27FC236}">
                <a16:creationId xmlns:a16="http://schemas.microsoft.com/office/drawing/2014/main" id="{9E6342A6-9FB6-48F2-A8E7-0B7DCB25B147}"/>
              </a:ext>
            </a:extLst>
          </p:cNvPr>
          <p:cNvSpPr>
            <a:spLocks xmlns:a="http://schemas.openxmlformats.org/drawingml/2006/main" noGrp="1"/>
          </p:cNvSpPr>
          <p:nvPr/>
        </p:nvSpPr>
        <p:spPr>
          <a:xfrm xmlns:a="http://schemas.openxmlformats.org/drawingml/2006/main">
            <a:off x="609600" y="1352550"/>
            <a:ext cx="10972800" cy="0"/>
          </a:xfrm>
          <a:prstGeom xmlns:a="http://schemas.openxmlformats.org/drawingml/2006/main" prst="line">
            <a:avLst/>
          </a:prstGeom>
          <a:noFill xmlns:a="http://schemas.openxmlformats.org/drawingml/2006/main"/>
          <a:ln xmlns:a="http://schemas.openxmlformats.org/drawingml/2006/main" w="9525">
            <a:solidFill>
              <a:srgbClr val="29415E"/>
            </a:solidFill>
          </a:ln>
        </p:spPr>
      </p:sp>
      <p:sp>
        <p:nvSpPr>
          <p:cNvPr id="4" name="">
            <a:extLst xmlns:a="http://schemas.openxmlformats.org/drawingml/2006/main">
              <a:ext uri="{FF2B5EF4-FFF2-40B4-BE49-F238E27FC236}">
                <a16:creationId xmlns:a16="http://schemas.microsoft.com/office/drawing/2014/main" id="{DC76718B-8CF5-4D8C-9DED-45043B91A082}"/>
              </a:ext>
            </a:extLst>
          </p:cNvPr>
          <p:cNvSpPr>
            <a:spLocks xmlns:a="http://schemas.openxmlformats.org/drawingml/2006/main" noGrp="1"/>
          </p:cNvSpPr>
          <p:nvPr/>
        </p:nvSpPr>
        <p:spPr>
          <a:xfrm xmlns:a="http://schemas.openxmlformats.org/drawingml/2006/main">
            <a:off x="857250" y="1809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FFB454"/>
                </a:solidFill>
                <a:latin typeface="Helvetica Neue"/>
                <a:ea typeface="Helvetica Neue"/>
                <a:cs typeface="Helvetica Neue"/>
              </a:defRPr>
            </a:pPr>
            <a:r>
              <a:rPr sz="1950" b="1">
                <a:solidFill>
                  <a:srgbClr val="FFB454"/>
                </a:solidFill>
                <a:latin typeface="Helvetica Neue"/>
                <a:ea typeface="Helvetica Neue"/>
                <a:cs typeface="Helvetica Neue"/>
              </a:rPr>
              <a:t>Current boundary</a:t>
            </a:r>
          </a:p>
        </p:txBody>
      </p:sp>
      <p:sp>
        <p:nvSpPr>
          <p:cNvPr id="5" name="">
            <a:extLst xmlns:a="http://schemas.openxmlformats.org/drawingml/2006/main">
              <a:ext uri="{FF2B5EF4-FFF2-40B4-BE49-F238E27FC236}">
                <a16:creationId xmlns:a16="http://schemas.microsoft.com/office/drawing/2014/main" id="{64E1B18F-32D3-4BE9-815B-A089D8041666}"/>
              </a:ext>
            </a:extLst>
          </p:cNvPr>
          <p:cNvSpPr>
            <a:spLocks xmlns:a="http://schemas.openxmlformats.org/drawingml/2006/main" noGrp="1"/>
          </p:cNvSpPr>
          <p:nvPr/>
        </p:nvSpPr>
        <p:spPr>
          <a:xfrm xmlns:a="http://schemas.openxmlformats.org/drawingml/2006/main">
            <a:off x="857250" y="23812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Cropped-image classification only</a:t>
            </a:r>
          </a:p>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Not safety-certified</a:t>
            </a:r>
          </a:p>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Matched five-epoch M1 Metal GPU baseline</a:t>
            </a:r>
          </a:p>
        </p:txBody>
      </p:sp>
      <p:sp>
        <p:nvSpPr>
          <p:cNvPr id="6" name="">
            <a:extLst xmlns:a="http://schemas.openxmlformats.org/drawingml/2006/main">
              <a:ext uri="{FF2B5EF4-FFF2-40B4-BE49-F238E27FC236}">
                <a16:creationId xmlns:a16="http://schemas.microsoft.com/office/drawing/2014/main" id="{52C3318E-9ABA-4783-8A07-F9306BA4170A}"/>
              </a:ext>
            </a:extLst>
          </p:cNvPr>
          <p:cNvSpPr>
            <a:spLocks xmlns:a="http://schemas.openxmlformats.org/drawingml/2006/main" noGrp="1"/>
          </p:cNvSpPr>
          <p:nvPr/>
        </p:nvSpPr>
        <p:spPr>
          <a:xfrm xmlns:a="http://schemas.openxmlformats.org/drawingml/2006/main">
            <a:off x="6572250" y="1809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24D6C8"/>
                </a:solidFill>
                <a:latin typeface="Helvetica Neue"/>
                <a:ea typeface="Helvetica Neue"/>
                <a:cs typeface="Helvetica Neue"/>
              </a:defRPr>
            </a:pPr>
            <a:r>
              <a:rPr sz="1950" b="1">
                <a:solidFill>
                  <a:srgbClr val="24D6C8"/>
                </a:solidFill>
                <a:latin typeface="Helvetica Neue"/>
                <a:ea typeface="Helvetica Neue"/>
                <a:cs typeface="Helvetica Neue"/>
              </a:rPr>
              <a:t>Next experiment</a:t>
            </a:r>
          </a:p>
        </p:txBody>
      </p:sp>
      <p:sp>
        <p:nvSpPr>
          <p:cNvPr id="7" name="">
            <a:extLst xmlns:a="http://schemas.openxmlformats.org/drawingml/2006/main">
              <a:ext uri="{FF2B5EF4-FFF2-40B4-BE49-F238E27FC236}">
                <a16:creationId xmlns:a16="http://schemas.microsoft.com/office/drawing/2014/main" id="{10F7225A-BC19-4A29-B203-BFEE15D80255}"/>
              </a:ext>
            </a:extLst>
          </p:cNvPr>
          <p:cNvSpPr>
            <a:spLocks xmlns:a="http://schemas.openxmlformats.org/drawingml/2006/main" noGrp="1"/>
          </p:cNvSpPr>
          <p:nvPr/>
        </p:nvSpPr>
        <p:spPr>
          <a:xfrm xmlns:a="http://schemas.openxmlformats.org/drawingml/2006/main">
            <a:off x="6572250" y="238125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Run matched multi-epoch training with --require-gpu on a host that exposes the M1 Metal device</a:t>
            </a:r>
          </a:p>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Add class balancing and compare learning rates</a:t>
            </a:r>
          </a:p>
          <a:p xmlns:a="http://schemas.openxmlformats.org/drawingml/2006/main">
            <a:pPr>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Extend to YOLO-style detection for full scenes</a:t>
            </a:r>
          </a:p>
        </p:txBody>
      </p:sp>
      <p:sp>
        <p:nvSpPr>
          <p:cNvPr id="8" name="">
            <a:extLst xmlns:a="http://schemas.openxmlformats.org/drawingml/2006/main">
              <a:ext uri="{FF2B5EF4-FFF2-40B4-BE49-F238E27FC236}">
                <a16:creationId xmlns:a16="http://schemas.microsoft.com/office/drawing/2014/main" id="{30FF2A44-1B9E-4D26-B2F8-383A347ECB51}"/>
              </a:ext>
            </a:extLst>
          </p:cNvPr>
          <p:cNvSpPr>
            <a:spLocks xmlns:a="http://schemas.openxmlformats.org/drawingml/2006/main" noGrp="1"/>
          </p:cNvSpPr>
          <p:nvPr/>
        </p:nvSpPr>
        <p:spPr>
          <a:xfrm xmlns:a="http://schemas.openxmlformats.org/drawingml/2006/main">
            <a:off x="857250" y="5286375"/>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8F7CFF"/>
                </a:solidFill>
                <a:latin typeface="Helvetica Neue"/>
                <a:ea typeface="Helvetica Neue"/>
                <a:cs typeface="Helvetica Neue"/>
              </a:defRPr>
            </a:pPr>
            <a:r>
              <a:rPr sz="1725" b="1">
                <a:solidFill>
                  <a:srgbClr val="8F7CFF"/>
                </a:solidFill>
                <a:latin typeface="Helvetica Neue"/>
                <a:ea typeface="Helvetica Neue"/>
                <a:cs typeface="Helvetica Neue"/>
              </a:rPr>
              <a:t>Viva point: a trustworthy result includes the data boundary, split strategy, metrics, errors, and limitations.</a:t>
            </a:r>
          </a:p>
        </p:txBody>
      </p:sp>
    </p:spTree>
    <p:extLst>
      <p:ext uri="{BB962C8B-B14F-4D97-AF65-F5344CB8AC3E}">
        <p14:creationId xmlns:p14="http://schemas.microsoft.com/office/powerpoint/2010/main" val="25878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2026-09-16T16:37:57.2990000Z</dcterms:created>
  <dcterms:modified xsi:type="dcterms:W3CDTF">2026-09-16T16:37:57.2990000Z</dcterms:modified>
</coreProperties>
</file>